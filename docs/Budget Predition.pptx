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ibernate" charset="1" panose="02000503000000000000"/>
      <p:regular r:id="rId19"/>
    </p:embeddedFont>
    <p:embeddedFont>
      <p:font typeface="Boulder" charset="1" panose="00000000000000000000"/>
      <p:regular r:id="rId20"/>
    </p:embeddedFont>
    <p:embeddedFont>
      <p:font typeface="Quicksand Bold" charset="1" panose="00000000000000000000"/>
      <p:regular r:id="rId21"/>
    </p:embeddedFont>
    <p:embeddedFont>
      <p:font typeface="Quicksan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50273">
            <a:off x="-212300" y="6094686"/>
            <a:ext cx="4822530" cy="3074363"/>
          </a:xfrm>
          <a:custGeom>
            <a:avLst/>
            <a:gdLst/>
            <a:ahLst/>
            <a:cxnLst/>
            <a:rect r="r" b="b" t="t" l="l"/>
            <a:pathLst>
              <a:path h="3074363" w="4822530">
                <a:moveTo>
                  <a:pt x="0" y="0"/>
                </a:moveTo>
                <a:lnTo>
                  <a:pt x="4822530" y="0"/>
                </a:lnTo>
                <a:lnTo>
                  <a:pt x="4822530" y="3074363"/>
                </a:lnTo>
                <a:lnTo>
                  <a:pt x="0" y="307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67796">
            <a:off x="14327252" y="6212454"/>
            <a:ext cx="4099370" cy="4114800"/>
          </a:xfrm>
          <a:custGeom>
            <a:avLst/>
            <a:gdLst/>
            <a:ahLst/>
            <a:cxnLst/>
            <a:rect r="r" b="b" t="t" l="l"/>
            <a:pathLst>
              <a:path h="4114800" w="4099370">
                <a:moveTo>
                  <a:pt x="0" y="0"/>
                </a:moveTo>
                <a:lnTo>
                  <a:pt x="4099370" y="0"/>
                </a:lnTo>
                <a:lnTo>
                  <a:pt x="4099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9966">
            <a:off x="-1180376" y="-506571"/>
            <a:ext cx="7315200" cy="2819677"/>
          </a:xfrm>
          <a:custGeom>
            <a:avLst/>
            <a:gdLst/>
            <a:ahLst/>
            <a:cxnLst/>
            <a:rect r="r" b="b" t="t" l="l"/>
            <a:pathLst>
              <a:path h="2819677" w="7315200">
                <a:moveTo>
                  <a:pt x="0" y="0"/>
                </a:moveTo>
                <a:lnTo>
                  <a:pt x="7315200" y="0"/>
                </a:lnTo>
                <a:lnTo>
                  <a:pt x="7315200" y="2819677"/>
                </a:lnTo>
                <a:lnTo>
                  <a:pt x="0" y="2819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97118">
            <a:off x="14307383" y="468131"/>
            <a:ext cx="6199017" cy="2650080"/>
          </a:xfrm>
          <a:custGeom>
            <a:avLst/>
            <a:gdLst/>
            <a:ahLst/>
            <a:cxnLst/>
            <a:rect r="r" b="b" t="t" l="l"/>
            <a:pathLst>
              <a:path h="2650080" w="6199017">
                <a:moveTo>
                  <a:pt x="0" y="0"/>
                </a:moveTo>
                <a:lnTo>
                  <a:pt x="6199017" y="0"/>
                </a:lnTo>
                <a:lnTo>
                  <a:pt x="6199017" y="2650080"/>
                </a:lnTo>
                <a:lnTo>
                  <a:pt x="0" y="2650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66395" y="8412480"/>
            <a:ext cx="7355211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</a:pPr>
            <a:r>
              <a:rPr lang="en-US" sz="6000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Mandru  Luca Teodor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8531" y="7424034"/>
            <a:ext cx="7355211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</a:pPr>
            <a:r>
              <a:rPr lang="en-US" sz="6000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Costescu Matei Cristian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087530" y="1028700"/>
            <a:ext cx="15171770" cy="5060943"/>
            <a:chOff x="0" y="0"/>
            <a:chExt cx="20229027" cy="674792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269280" y="-266700"/>
              <a:ext cx="15662071" cy="3092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83"/>
                </a:lnSpc>
              </a:pPr>
              <a:r>
                <a:rPr lang="en-US" sz="13916">
                  <a:solidFill>
                    <a:srgbClr val="FFF5DF"/>
                  </a:solidFill>
                  <a:latin typeface="Hibernate"/>
                  <a:ea typeface="Hibernate"/>
                  <a:cs typeface="Hibernate"/>
                  <a:sym typeface="Hibernate"/>
                </a:rPr>
                <a:t>PREDICTIA INCASARILOR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932973"/>
              <a:ext cx="18796933" cy="3575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09"/>
                </a:lnSpc>
              </a:pPr>
              <a:r>
                <a:rPr lang="en-US" sz="9635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PE BAZA ACTORILOR CARE JOACA 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864024" y="815144"/>
              <a:ext cx="7365003" cy="1443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2"/>
                </a:lnSpc>
              </a:pPr>
              <a:r>
                <a:rPr lang="en-US" sz="6544">
                  <a:solidFill>
                    <a:srgbClr val="C1272D"/>
                  </a:solidFill>
                  <a:latin typeface="Hibernate"/>
                  <a:ea typeface="Hibernate"/>
                  <a:cs typeface="Hibernate"/>
                  <a:sym typeface="Hibernate"/>
                </a:rPr>
                <a:t>UNUI FILM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920090" y="5304877"/>
              <a:ext cx="7365003" cy="1443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2"/>
                </a:lnSpc>
              </a:pPr>
              <a:r>
                <a:rPr lang="en-US" sz="6544">
                  <a:solidFill>
                    <a:srgbClr val="C1272D"/>
                  </a:solidFill>
                  <a:latin typeface="Hibernate"/>
                  <a:ea typeface="Hibernate"/>
                  <a:cs typeface="Hibernate"/>
                  <a:sym typeface="Hibernate"/>
                </a:rPr>
                <a:t>IN ACESTA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53731" y="5602085"/>
            <a:ext cx="8250898" cy="167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5"/>
              </a:lnSpc>
            </a:pPr>
            <a:r>
              <a:rPr lang="en-US" sz="9775">
                <a:solidFill>
                  <a:srgbClr val="FFF5DF"/>
                </a:solidFill>
                <a:latin typeface="Hibernate"/>
                <a:ea typeface="Hibernate"/>
                <a:cs typeface="Hibernate"/>
                <a:sym typeface="Hibernate"/>
              </a:rPr>
              <a:t>PROIECT IAPD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7537" y="3670672"/>
            <a:ext cx="1642353" cy="1642353"/>
            <a:chOff x="0" y="0"/>
            <a:chExt cx="2189804" cy="218980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93661" y="123825"/>
              <a:ext cx="802481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061594" y="6596725"/>
            <a:ext cx="1642353" cy="1642353"/>
            <a:chOff x="0" y="0"/>
            <a:chExt cx="2189804" cy="218980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56839" y="123825"/>
              <a:ext cx="1076127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59796" y="3441005"/>
            <a:ext cx="1642353" cy="1642353"/>
            <a:chOff x="0" y="0"/>
            <a:chExt cx="2189804" cy="218980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58525" y="123825"/>
              <a:ext cx="1072753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8755218">
            <a:off x="14231856" y="-524307"/>
            <a:ext cx="4689852" cy="4338113"/>
          </a:xfrm>
          <a:custGeom>
            <a:avLst/>
            <a:gdLst/>
            <a:ahLst/>
            <a:cxnLst/>
            <a:rect r="r" b="b" t="t" l="l"/>
            <a:pathLst>
              <a:path h="4338113" w="4689852">
                <a:moveTo>
                  <a:pt x="0" y="0"/>
                </a:moveTo>
                <a:lnTo>
                  <a:pt x="4689852" y="0"/>
                </a:lnTo>
                <a:lnTo>
                  <a:pt x="4689852" y="4338113"/>
                </a:lnTo>
                <a:lnTo>
                  <a:pt x="0" y="4338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17537" y="1333873"/>
            <a:ext cx="10170622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9"/>
              </a:lnSpc>
            </a:pPr>
            <a:r>
              <a:rPr lang="en-US" sz="9999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INTRODUCERE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84972" y="7154257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EXTRAGEREA DATELOR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10641" y="3845304"/>
            <a:ext cx="6466141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PREPROCESAREA DATELOR 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065341">
            <a:off x="-2240063" y="7235417"/>
            <a:ext cx="7315200" cy="2819677"/>
          </a:xfrm>
          <a:custGeom>
            <a:avLst/>
            <a:gdLst/>
            <a:ahLst/>
            <a:cxnLst/>
            <a:rect r="r" b="b" t="t" l="l"/>
            <a:pathLst>
              <a:path h="2819677" w="7315200">
                <a:moveTo>
                  <a:pt x="0" y="0"/>
                </a:moveTo>
                <a:lnTo>
                  <a:pt x="7315200" y="0"/>
                </a:lnTo>
                <a:lnTo>
                  <a:pt x="7315200" y="2819677"/>
                </a:lnTo>
                <a:lnTo>
                  <a:pt x="0" y="2819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1525371">
            <a:off x="16477115" y="6873988"/>
            <a:ext cx="1080248" cy="2919589"/>
          </a:xfrm>
          <a:custGeom>
            <a:avLst/>
            <a:gdLst/>
            <a:ahLst/>
            <a:cxnLst/>
            <a:rect r="r" b="b" t="t" l="l"/>
            <a:pathLst>
              <a:path h="2919589" w="1080248">
                <a:moveTo>
                  <a:pt x="0" y="0"/>
                </a:moveTo>
                <a:lnTo>
                  <a:pt x="1080248" y="0"/>
                </a:lnTo>
                <a:lnTo>
                  <a:pt x="1080248" y="2919590"/>
                </a:lnTo>
                <a:lnTo>
                  <a:pt x="0" y="2919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774687" y="4074972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OVERVIEW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953215" y="5752058"/>
            <a:ext cx="1642353" cy="1665843"/>
            <a:chOff x="0" y="0"/>
            <a:chExt cx="2189804" cy="2221125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31321"/>
              <a:ext cx="2189804" cy="2189804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06876" y="133350"/>
              <a:ext cx="1177178" cy="189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02"/>
                </a:lnSpc>
              </a:pPr>
              <a:r>
                <a:rPr lang="en-US" sz="10002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046229" y="6168102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ANALIZAREA DATELOR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74937" y="4211299"/>
            <a:ext cx="11538125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OVERVIEW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606585">
            <a:off x="14247145" y="4668767"/>
            <a:ext cx="3573158" cy="4913093"/>
          </a:xfrm>
          <a:custGeom>
            <a:avLst/>
            <a:gdLst/>
            <a:ahLst/>
            <a:cxnLst/>
            <a:rect r="r" b="b" t="t" l="l"/>
            <a:pathLst>
              <a:path h="4913093" w="3573158">
                <a:moveTo>
                  <a:pt x="0" y="0"/>
                </a:moveTo>
                <a:lnTo>
                  <a:pt x="3573158" y="0"/>
                </a:lnTo>
                <a:lnTo>
                  <a:pt x="3573158" y="4913093"/>
                </a:lnTo>
                <a:lnTo>
                  <a:pt x="0" y="491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6585">
            <a:off x="14794702" y="3818267"/>
            <a:ext cx="3573158" cy="4913093"/>
          </a:xfrm>
          <a:custGeom>
            <a:avLst/>
            <a:gdLst/>
            <a:ahLst/>
            <a:cxnLst/>
            <a:rect r="r" b="b" t="t" l="l"/>
            <a:pathLst>
              <a:path h="4913093" w="3573158">
                <a:moveTo>
                  <a:pt x="0" y="0"/>
                </a:moveTo>
                <a:lnTo>
                  <a:pt x="3573159" y="0"/>
                </a:lnTo>
                <a:lnTo>
                  <a:pt x="3573159" y="4913093"/>
                </a:lnTo>
                <a:lnTo>
                  <a:pt x="0" y="491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53352">
            <a:off x="650911" y="54039"/>
            <a:ext cx="3802992" cy="6556883"/>
          </a:xfrm>
          <a:custGeom>
            <a:avLst/>
            <a:gdLst/>
            <a:ahLst/>
            <a:cxnLst/>
            <a:rect r="r" b="b" t="t" l="l"/>
            <a:pathLst>
              <a:path h="6556883" w="3802992">
                <a:moveTo>
                  <a:pt x="0" y="0"/>
                </a:moveTo>
                <a:lnTo>
                  <a:pt x="3802993" y="0"/>
                </a:lnTo>
                <a:lnTo>
                  <a:pt x="3802993" y="6556883"/>
                </a:lnTo>
                <a:lnTo>
                  <a:pt x="0" y="6556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01267" y="3542803"/>
            <a:ext cx="13718589" cy="4849853"/>
            <a:chOff x="0" y="0"/>
            <a:chExt cx="3613126" cy="1277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3126" cy="1277327"/>
            </a:xfrm>
            <a:custGeom>
              <a:avLst/>
              <a:gdLst/>
              <a:ahLst/>
              <a:cxnLst/>
              <a:rect r="r" b="b" t="t" l="l"/>
              <a:pathLst>
                <a:path h="1277327" w="3613126">
                  <a:moveTo>
                    <a:pt x="28781" y="0"/>
                  </a:moveTo>
                  <a:lnTo>
                    <a:pt x="3584345" y="0"/>
                  </a:lnTo>
                  <a:cubicBezTo>
                    <a:pt x="3591978" y="0"/>
                    <a:pt x="3599299" y="3032"/>
                    <a:pt x="3604697" y="8430"/>
                  </a:cubicBezTo>
                  <a:cubicBezTo>
                    <a:pt x="3610094" y="13827"/>
                    <a:pt x="3613126" y="21148"/>
                    <a:pt x="3613126" y="28781"/>
                  </a:cubicBezTo>
                  <a:lnTo>
                    <a:pt x="3613126" y="1248546"/>
                  </a:lnTo>
                  <a:cubicBezTo>
                    <a:pt x="3613126" y="1256180"/>
                    <a:pt x="3610094" y="1263500"/>
                    <a:pt x="3604697" y="1268898"/>
                  </a:cubicBezTo>
                  <a:cubicBezTo>
                    <a:pt x="3599299" y="1274295"/>
                    <a:pt x="3591978" y="1277327"/>
                    <a:pt x="3584345" y="1277327"/>
                  </a:cubicBezTo>
                  <a:lnTo>
                    <a:pt x="28781" y="1277327"/>
                  </a:lnTo>
                  <a:cubicBezTo>
                    <a:pt x="21148" y="1277327"/>
                    <a:pt x="13827" y="1274295"/>
                    <a:pt x="8430" y="1268898"/>
                  </a:cubicBezTo>
                  <a:cubicBezTo>
                    <a:pt x="3032" y="1263500"/>
                    <a:pt x="0" y="1256180"/>
                    <a:pt x="0" y="1248546"/>
                  </a:cubicBezTo>
                  <a:lnTo>
                    <a:pt x="0" y="28781"/>
                  </a:lnTo>
                  <a:cubicBezTo>
                    <a:pt x="0" y="21148"/>
                    <a:pt x="3032" y="13827"/>
                    <a:pt x="8430" y="8430"/>
                  </a:cubicBezTo>
                  <a:cubicBezTo>
                    <a:pt x="13827" y="3032"/>
                    <a:pt x="21148" y="0"/>
                    <a:pt x="28781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13126" cy="131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8755218">
            <a:off x="12046307" y="7688268"/>
            <a:ext cx="4689852" cy="4338113"/>
          </a:xfrm>
          <a:custGeom>
            <a:avLst/>
            <a:gdLst/>
            <a:ahLst/>
            <a:cxnLst/>
            <a:rect r="r" b="b" t="t" l="l"/>
            <a:pathLst>
              <a:path h="4338113" w="4689852">
                <a:moveTo>
                  <a:pt x="0" y="0"/>
                </a:moveTo>
                <a:lnTo>
                  <a:pt x="4689852" y="0"/>
                </a:lnTo>
                <a:lnTo>
                  <a:pt x="4689852" y="4338113"/>
                </a:lnTo>
                <a:lnTo>
                  <a:pt x="0" y="43381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552407" y="4326398"/>
            <a:ext cx="698356" cy="6983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90045" y="4269248"/>
            <a:ext cx="11929812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Ideea proiectului nostru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Proiectul nostru urmărește să prezică încasările unui film folosind factori precum actorii principali, regizorul, genul, rating-ul și popularitatea filmului. Scopul este de a identifica tiparele care influențează succesul financiar și de a estima veniturile potențiale înainte de lansare, oferind astfel informații valoroase pentru studiouri și investitori.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552407" y="7172642"/>
            <a:ext cx="698356" cy="6983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90045" y="7285600"/>
            <a:ext cx="107140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Scopul proiectului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329632" y="5417525"/>
            <a:ext cx="4181015" cy="4343912"/>
          </a:xfrm>
          <a:custGeom>
            <a:avLst/>
            <a:gdLst/>
            <a:ahLst/>
            <a:cxnLst/>
            <a:rect r="r" b="b" t="t" l="l"/>
            <a:pathLst>
              <a:path h="4343912" w="4181015">
                <a:moveTo>
                  <a:pt x="0" y="0"/>
                </a:moveTo>
                <a:lnTo>
                  <a:pt x="4181015" y="0"/>
                </a:lnTo>
                <a:lnTo>
                  <a:pt x="4181015" y="4343912"/>
                </a:lnTo>
                <a:lnTo>
                  <a:pt x="0" y="434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13115" y="4892096"/>
            <a:ext cx="10061771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E9BB6D"/>
                </a:solidFill>
                <a:latin typeface="Boulder"/>
                <a:ea typeface="Boulder"/>
                <a:cs typeface="Boulder"/>
                <a:sym typeface="Boulder"/>
              </a:rPr>
              <a:t>DATELOR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31270" y="3031587"/>
            <a:ext cx="8025460" cy="23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3"/>
              </a:lnSpc>
            </a:pPr>
            <a:r>
              <a:rPr lang="en-US" sz="13916">
                <a:solidFill>
                  <a:srgbClr val="F8E8C6"/>
                </a:solidFill>
                <a:latin typeface="Hibernate"/>
                <a:ea typeface="Hibernate"/>
                <a:cs typeface="Hibernate"/>
                <a:sym typeface="Hibernate"/>
              </a:rPr>
              <a:t>EXTRAGEREA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890" y="2565250"/>
            <a:ext cx="13963930" cy="6693050"/>
            <a:chOff x="0" y="0"/>
            <a:chExt cx="3677743" cy="1762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7743" cy="1762779"/>
            </a:xfrm>
            <a:custGeom>
              <a:avLst/>
              <a:gdLst/>
              <a:ahLst/>
              <a:cxnLst/>
              <a:rect r="r" b="b" t="t" l="l"/>
              <a:pathLst>
                <a:path h="1762779" w="3677743">
                  <a:moveTo>
                    <a:pt x="28276" y="0"/>
                  </a:moveTo>
                  <a:lnTo>
                    <a:pt x="3649468" y="0"/>
                  </a:lnTo>
                  <a:cubicBezTo>
                    <a:pt x="3656967" y="0"/>
                    <a:pt x="3664159" y="2979"/>
                    <a:pt x="3669461" y="8282"/>
                  </a:cubicBezTo>
                  <a:cubicBezTo>
                    <a:pt x="3674764" y="13584"/>
                    <a:pt x="3677743" y="20776"/>
                    <a:pt x="3677743" y="28276"/>
                  </a:cubicBezTo>
                  <a:lnTo>
                    <a:pt x="3677743" y="1734503"/>
                  </a:lnTo>
                  <a:cubicBezTo>
                    <a:pt x="3677743" y="1742002"/>
                    <a:pt x="3674764" y="1749194"/>
                    <a:pt x="3669461" y="1754497"/>
                  </a:cubicBezTo>
                  <a:cubicBezTo>
                    <a:pt x="3664159" y="1759800"/>
                    <a:pt x="3656967" y="1762779"/>
                    <a:pt x="3649468" y="1762779"/>
                  </a:cubicBezTo>
                  <a:lnTo>
                    <a:pt x="28276" y="1762779"/>
                  </a:lnTo>
                  <a:cubicBezTo>
                    <a:pt x="20776" y="1762779"/>
                    <a:pt x="13584" y="1759800"/>
                    <a:pt x="8282" y="1754497"/>
                  </a:cubicBezTo>
                  <a:cubicBezTo>
                    <a:pt x="2979" y="1749194"/>
                    <a:pt x="0" y="1742002"/>
                    <a:pt x="0" y="1734503"/>
                  </a:cubicBezTo>
                  <a:lnTo>
                    <a:pt x="0" y="28276"/>
                  </a:lnTo>
                  <a:cubicBezTo>
                    <a:pt x="0" y="20776"/>
                    <a:pt x="2979" y="13584"/>
                    <a:pt x="8282" y="8282"/>
                  </a:cubicBezTo>
                  <a:cubicBezTo>
                    <a:pt x="13584" y="2979"/>
                    <a:pt x="20776" y="0"/>
                    <a:pt x="28276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77743" cy="1800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4411" y="3112135"/>
            <a:ext cx="698356" cy="6983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34411" y="5384925"/>
            <a:ext cx="698356" cy="6983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34411" y="7450941"/>
            <a:ext cx="698356" cy="6983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204336" y="1045625"/>
            <a:ext cx="3114967" cy="8418830"/>
          </a:xfrm>
          <a:custGeom>
            <a:avLst/>
            <a:gdLst/>
            <a:ahLst/>
            <a:cxnLst/>
            <a:rect r="r" b="b" t="t" l="l"/>
            <a:pathLst>
              <a:path h="8418830" w="3114967">
                <a:moveTo>
                  <a:pt x="0" y="0"/>
                </a:moveTo>
                <a:lnTo>
                  <a:pt x="3114967" y="0"/>
                </a:lnTo>
                <a:lnTo>
                  <a:pt x="3114967" y="8418831"/>
                </a:lnTo>
                <a:lnTo>
                  <a:pt x="0" y="8418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123950"/>
            <a:ext cx="16230600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PASII URMATI: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78289" y="3054985"/>
            <a:ext cx="107140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 generat o listă de link-uri către filme de pe IMDb folosind un script Python.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55629" y="3169285"/>
            <a:ext cx="255921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12532" y="5442075"/>
            <a:ext cx="343190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78289" y="4869233"/>
            <a:ext cx="11212709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 creat un webscraper pentru paginile IMDb ale filmelor, care extrage următoarele informații: titlu, rating, durată, regizori, scenariști, actori principali, genuri, popularitate (un fel de clasament IMDb), buget estimat, câștiguri și URL-ul filmului.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12532" y="7534604"/>
            <a:ext cx="342114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78289" y="7354349"/>
            <a:ext cx="107140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 rulat webscraper-ul pe lista noastră de link-uri și am obținut un set de date cu 9.750 de înregistrări.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329632" y="5417525"/>
            <a:ext cx="4181015" cy="4343912"/>
          </a:xfrm>
          <a:custGeom>
            <a:avLst/>
            <a:gdLst/>
            <a:ahLst/>
            <a:cxnLst/>
            <a:rect r="r" b="b" t="t" l="l"/>
            <a:pathLst>
              <a:path h="4343912" w="4181015">
                <a:moveTo>
                  <a:pt x="0" y="0"/>
                </a:moveTo>
                <a:lnTo>
                  <a:pt x="4181015" y="0"/>
                </a:lnTo>
                <a:lnTo>
                  <a:pt x="4181015" y="4343912"/>
                </a:lnTo>
                <a:lnTo>
                  <a:pt x="0" y="434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13115" y="4892096"/>
            <a:ext cx="10061771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E9BB6D"/>
                </a:solidFill>
                <a:latin typeface="Boulder"/>
                <a:ea typeface="Boulder"/>
                <a:cs typeface="Boulder"/>
                <a:sym typeface="Boulder"/>
              </a:rPr>
              <a:t>DATELOR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31270" y="3031587"/>
            <a:ext cx="8025460" cy="23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3"/>
              </a:lnSpc>
            </a:pPr>
            <a:r>
              <a:rPr lang="en-US" sz="13916">
                <a:solidFill>
                  <a:srgbClr val="F8E8C6"/>
                </a:solidFill>
                <a:latin typeface="Hibernate"/>
                <a:ea typeface="Hibernate"/>
                <a:cs typeface="Hibernate"/>
                <a:sym typeface="Hibernate"/>
              </a:rPr>
              <a:t>PREPROCESAREA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890" y="2565250"/>
            <a:ext cx="13963930" cy="6693050"/>
            <a:chOff x="0" y="0"/>
            <a:chExt cx="3677743" cy="1762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7743" cy="1762779"/>
            </a:xfrm>
            <a:custGeom>
              <a:avLst/>
              <a:gdLst/>
              <a:ahLst/>
              <a:cxnLst/>
              <a:rect r="r" b="b" t="t" l="l"/>
              <a:pathLst>
                <a:path h="1762779" w="3677743">
                  <a:moveTo>
                    <a:pt x="28276" y="0"/>
                  </a:moveTo>
                  <a:lnTo>
                    <a:pt x="3649468" y="0"/>
                  </a:lnTo>
                  <a:cubicBezTo>
                    <a:pt x="3656967" y="0"/>
                    <a:pt x="3664159" y="2979"/>
                    <a:pt x="3669461" y="8282"/>
                  </a:cubicBezTo>
                  <a:cubicBezTo>
                    <a:pt x="3674764" y="13584"/>
                    <a:pt x="3677743" y="20776"/>
                    <a:pt x="3677743" y="28276"/>
                  </a:cubicBezTo>
                  <a:lnTo>
                    <a:pt x="3677743" y="1734503"/>
                  </a:lnTo>
                  <a:cubicBezTo>
                    <a:pt x="3677743" y="1742002"/>
                    <a:pt x="3674764" y="1749194"/>
                    <a:pt x="3669461" y="1754497"/>
                  </a:cubicBezTo>
                  <a:cubicBezTo>
                    <a:pt x="3664159" y="1759800"/>
                    <a:pt x="3656967" y="1762779"/>
                    <a:pt x="3649468" y="1762779"/>
                  </a:cubicBezTo>
                  <a:lnTo>
                    <a:pt x="28276" y="1762779"/>
                  </a:lnTo>
                  <a:cubicBezTo>
                    <a:pt x="20776" y="1762779"/>
                    <a:pt x="13584" y="1759800"/>
                    <a:pt x="8282" y="1754497"/>
                  </a:cubicBezTo>
                  <a:cubicBezTo>
                    <a:pt x="2979" y="1749194"/>
                    <a:pt x="0" y="1742002"/>
                    <a:pt x="0" y="1734503"/>
                  </a:cubicBezTo>
                  <a:lnTo>
                    <a:pt x="0" y="28276"/>
                  </a:lnTo>
                  <a:cubicBezTo>
                    <a:pt x="0" y="20776"/>
                    <a:pt x="2979" y="13584"/>
                    <a:pt x="8282" y="8282"/>
                  </a:cubicBezTo>
                  <a:cubicBezTo>
                    <a:pt x="13584" y="2979"/>
                    <a:pt x="20776" y="0"/>
                    <a:pt x="28276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77743" cy="1800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4411" y="3112135"/>
            <a:ext cx="698356" cy="6983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34411" y="5384925"/>
            <a:ext cx="698356" cy="6983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34411" y="7450941"/>
            <a:ext cx="698356" cy="6983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204336" y="1045625"/>
            <a:ext cx="3114967" cy="8418830"/>
          </a:xfrm>
          <a:custGeom>
            <a:avLst/>
            <a:gdLst/>
            <a:ahLst/>
            <a:cxnLst/>
            <a:rect r="r" b="b" t="t" l="l"/>
            <a:pathLst>
              <a:path h="8418830" w="3114967">
                <a:moveTo>
                  <a:pt x="0" y="0"/>
                </a:moveTo>
                <a:lnTo>
                  <a:pt x="3114967" y="0"/>
                </a:lnTo>
                <a:lnTo>
                  <a:pt x="3114967" y="8418831"/>
                </a:lnTo>
                <a:lnTo>
                  <a:pt x="0" y="8418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123950"/>
            <a:ext cx="16230600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PASII URMATI: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78289" y="2744251"/>
            <a:ext cx="10714018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Având un volum mare de date, am testat două abordări:</a:t>
            </a:r>
          </a:p>
          <a:p>
            <a:pPr algn="l" marL="518163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În prima variantă am reținut doar filmele care aveau toate coloanele completate, rezultând un set de date de aproximativ 2.580 de înregistrări.</a:t>
            </a:r>
          </a:p>
          <a:p>
            <a:pPr algn="l" marL="518163" indent="-259082" lvl="1">
              <a:lnSpc>
                <a:spcPts val="3360"/>
              </a:lnSpc>
              <a:buAutoNum type="arabicPeriod" startAt="1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În a doua variantă, am completat datele lipsă.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655629" y="3169285"/>
            <a:ext cx="255921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12532" y="5442075"/>
            <a:ext cx="343190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78289" y="5327775"/>
            <a:ext cx="1121270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Pentru coloanele cu valori lipsă, am înlocuit spațiile goale cu valoarea cea mai frecventă din coloana respectivă.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12532" y="7534604"/>
            <a:ext cx="342114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78289" y="6935249"/>
            <a:ext cx="10714018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Pentru coloanele Budget și Gross Worldwide, am extras moneda asociată fiecărei sume și am convertit toate valorile în dolari, pentru a uniformiza formatul. La final, aceste coloane au fost salvate ca valori numerice.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373309" y="3876809"/>
            <a:ext cx="9541382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E9BB6D"/>
                </a:solidFill>
                <a:latin typeface="Boulder"/>
                <a:ea typeface="Boulder"/>
                <a:cs typeface="Boulder"/>
                <a:sym typeface="Boulder"/>
              </a:rPr>
              <a:t>DATELOR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07889" y="2016299"/>
            <a:ext cx="6072222" cy="23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3"/>
              </a:lnSpc>
            </a:pPr>
            <a:r>
              <a:rPr lang="en-US" sz="13916">
                <a:solidFill>
                  <a:srgbClr val="F8E8C6"/>
                </a:solidFill>
                <a:latin typeface="Hibernate"/>
                <a:ea typeface="Hibernate"/>
                <a:cs typeface="Hibernate"/>
                <a:sym typeface="Hibernate"/>
              </a:rPr>
              <a:t>ANALIZA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01819" y="5143500"/>
            <a:ext cx="3866446" cy="4773390"/>
          </a:xfrm>
          <a:custGeom>
            <a:avLst/>
            <a:gdLst/>
            <a:ahLst/>
            <a:cxnLst/>
            <a:rect r="r" b="b" t="t" l="l"/>
            <a:pathLst>
              <a:path h="4773390" w="3866446">
                <a:moveTo>
                  <a:pt x="0" y="0"/>
                </a:moveTo>
                <a:lnTo>
                  <a:pt x="3866445" y="0"/>
                </a:lnTo>
                <a:lnTo>
                  <a:pt x="3866445" y="4773390"/>
                </a:lnTo>
                <a:lnTo>
                  <a:pt x="0" y="4773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37665"/>
            <a:ext cx="7131520" cy="4221622"/>
            <a:chOff x="0" y="0"/>
            <a:chExt cx="1878261" cy="11118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8261" cy="1111868"/>
            </a:xfrm>
            <a:custGeom>
              <a:avLst/>
              <a:gdLst/>
              <a:ahLst/>
              <a:cxnLst/>
              <a:rect r="r" b="b" t="t" l="l"/>
              <a:pathLst>
                <a:path h="1111868" w="1878261">
                  <a:moveTo>
                    <a:pt x="55365" y="0"/>
                  </a:moveTo>
                  <a:lnTo>
                    <a:pt x="1822895" y="0"/>
                  </a:lnTo>
                  <a:cubicBezTo>
                    <a:pt x="1853473" y="0"/>
                    <a:pt x="1878261" y="24788"/>
                    <a:pt x="1878261" y="55365"/>
                  </a:cubicBezTo>
                  <a:lnTo>
                    <a:pt x="1878261" y="1056502"/>
                  </a:lnTo>
                  <a:cubicBezTo>
                    <a:pt x="1878261" y="1087080"/>
                    <a:pt x="1853473" y="1111868"/>
                    <a:pt x="1822895" y="1111868"/>
                  </a:cubicBezTo>
                  <a:lnTo>
                    <a:pt x="55365" y="1111868"/>
                  </a:lnTo>
                  <a:cubicBezTo>
                    <a:pt x="24788" y="1111868"/>
                    <a:pt x="0" y="1087080"/>
                    <a:pt x="0" y="1056502"/>
                  </a:cubicBezTo>
                  <a:lnTo>
                    <a:pt x="0" y="55365"/>
                  </a:lnTo>
                  <a:cubicBezTo>
                    <a:pt x="0" y="24788"/>
                    <a:pt x="24788" y="0"/>
                    <a:pt x="5536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78261" cy="1149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86533" y="1560635"/>
            <a:ext cx="5973705" cy="3858913"/>
            <a:chOff x="0" y="0"/>
            <a:chExt cx="1573322" cy="10163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3322" cy="1016339"/>
            </a:xfrm>
            <a:custGeom>
              <a:avLst/>
              <a:gdLst/>
              <a:ahLst/>
              <a:cxnLst/>
              <a:rect r="r" b="b" t="t" l="l"/>
              <a:pathLst>
                <a:path h="1016339" w="1573322">
                  <a:moveTo>
                    <a:pt x="66096" y="0"/>
                  </a:moveTo>
                  <a:lnTo>
                    <a:pt x="1507226" y="0"/>
                  </a:lnTo>
                  <a:cubicBezTo>
                    <a:pt x="1524755" y="0"/>
                    <a:pt x="1541567" y="6964"/>
                    <a:pt x="1553963" y="19359"/>
                  </a:cubicBezTo>
                  <a:cubicBezTo>
                    <a:pt x="1566358" y="31754"/>
                    <a:pt x="1573322" y="48566"/>
                    <a:pt x="1573322" y="66096"/>
                  </a:cubicBezTo>
                  <a:lnTo>
                    <a:pt x="1573322" y="950243"/>
                  </a:lnTo>
                  <a:cubicBezTo>
                    <a:pt x="1573322" y="967773"/>
                    <a:pt x="1566358" y="984585"/>
                    <a:pt x="1553963" y="996980"/>
                  </a:cubicBezTo>
                  <a:cubicBezTo>
                    <a:pt x="1541567" y="1009376"/>
                    <a:pt x="1524755" y="1016339"/>
                    <a:pt x="1507226" y="1016339"/>
                  </a:cubicBezTo>
                  <a:lnTo>
                    <a:pt x="66096" y="1016339"/>
                  </a:lnTo>
                  <a:cubicBezTo>
                    <a:pt x="48566" y="1016339"/>
                    <a:pt x="31754" y="1009376"/>
                    <a:pt x="19359" y="996980"/>
                  </a:cubicBezTo>
                  <a:cubicBezTo>
                    <a:pt x="6964" y="984585"/>
                    <a:pt x="0" y="967773"/>
                    <a:pt x="0" y="950243"/>
                  </a:cubicBezTo>
                  <a:lnTo>
                    <a:pt x="0" y="66096"/>
                  </a:lnTo>
                  <a:cubicBezTo>
                    <a:pt x="0" y="48566"/>
                    <a:pt x="6964" y="31754"/>
                    <a:pt x="19359" y="19359"/>
                  </a:cubicBezTo>
                  <a:cubicBezTo>
                    <a:pt x="31754" y="6964"/>
                    <a:pt x="48566" y="0"/>
                    <a:pt x="66096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73322" cy="1054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7322668">
            <a:off x="15009063" y="-274377"/>
            <a:ext cx="3284676" cy="3412650"/>
          </a:xfrm>
          <a:custGeom>
            <a:avLst/>
            <a:gdLst/>
            <a:ahLst/>
            <a:cxnLst/>
            <a:rect r="r" b="b" t="t" l="l"/>
            <a:pathLst>
              <a:path h="3412650" w="3284676">
                <a:moveTo>
                  <a:pt x="0" y="0"/>
                </a:moveTo>
                <a:lnTo>
                  <a:pt x="3284676" y="0"/>
                </a:lnTo>
                <a:lnTo>
                  <a:pt x="3284676" y="3412650"/>
                </a:lnTo>
                <a:lnTo>
                  <a:pt x="0" y="341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7320000">
            <a:off x="-6118" y="-274824"/>
            <a:ext cx="3284676" cy="3412650"/>
          </a:xfrm>
          <a:custGeom>
            <a:avLst/>
            <a:gdLst/>
            <a:ahLst/>
            <a:cxnLst/>
            <a:rect r="r" b="b" t="t" l="l"/>
            <a:pathLst>
              <a:path h="3412650" w="3284676">
                <a:moveTo>
                  <a:pt x="3284676" y="0"/>
                </a:moveTo>
                <a:lnTo>
                  <a:pt x="0" y="0"/>
                </a:lnTo>
                <a:lnTo>
                  <a:pt x="0" y="3412650"/>
                </a:lnTo>
                <a:lnTo>
                  <a:pt x="3284676" y="3412650"/>
                </a:lnTo>
                <a:lnTo>
                  <a:pt x="32846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40952" y="1744579"/>
            <a:ext cx="5664868" cy="3398921"/>
          </a:xfrm>
          <a:custGeom>
            <a:avLst/>
            <a:gdLst/>
            <a:ahLst/>
            <a:cxnLst/>
            <a:rect r="r" b="b" t="t" l="l"/>
            <a:pathLst>
              <a:path h="3398921" w="5664868">
                <a:moveTo>
                  <a:pt x="0" y="0"/>
                </a:moveTo>
                <a:lnTo>
                  <a:pt x="5664868" y="0"/>
                </a:lnTo>
                <a:lnTo>
                  <a:pt x="5664868" y="3398921"/>
                </a:lnTo>
                <a:lnTo>
                  <a:pt x="0" y="3398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7182" y="1947335"/>
            <a:ext cx="6506510" cy="3903906"/>
          </a:xfrm>
          <a:custGeom>
            <a:avLst/>
            <a:gdLst/>
            <a:ahLst/>
            <a:cxnLst/>
            <a:rect r="r" b="b" t="t" l="l"/>
            <a:pathLst>
              <a:path h="3903906" w="6506510">
                <a:moveTo>
                  <a:pt x="0" y="0"/>
                </a:moveTo>
                <a:lnTo>
                  <a:pt x="6506510" y="0"/>
                </a:lnTo>
                <a:lnTo>
                  <a:pt x="6506510" y="3903906"/>
                </a:lnTo>
                <a:lnTo>
                  <a:pt x="0" y="3903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46434" y="514985"/>
            <a:ext cx="10487236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VALORI CONTINUE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47182" y="6323111"/>
            <a:ext cx="5973705" cy="3858913"/>
            <a:chOff x="0" y="0"/>
            <a:chExt cx="1573322" cy="10163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73322" cy="1016339"/>
            </a:xfrm>
            <a:custGeom>
              <a:avLst/>
              <a:gdLst/>
              <a:ahLst/>
              <a:cxnLst/>
              <a:rect r="r" b="b" t="t" l="l"/>
              <a:pathLst>
                <a:path h="1016339" w="1573322">
                  <a:moveTo>
                    <a:pt x="66096" y="0"/>
                  </a:moveTo>
                  <a:lnTo>
                    <a:pt x="1507226" y="0"/>
                  </a:lnTo>
                  <a:cubicBezTo>
                    <a:pt x="1524755" y="0"/>
                    <a:pt x="1541567" y="6964"/>
                    <a:pt x="1553963" y="19359"/>
                  </a:cubicBezTo>
                  <a:cubicBezTo>
                    <a:pt x="1566358" y="31754"/>
                    <a:pt x="1573322" y="48566"/>
                    <a:pt x="1573322" y="66096"/>
                  </a:cubicBezTo>
                  <a:lnTo>
                    <a:pt x="1573322" y="950243"/>
                  </a:lnTo>
                  <a:cubicBezTo>
                    <a:pt x="1573322" y="967773"/>
                    <a:pt x="1566358" y="984585"/>
                    <a:pt x="1553963" y="996980"/>
                  </a:cubicBezTo>
                  <a:cubicBezTo>
                    <a:pt x="1541567" y="1009376"/>
                    <a:pt x="1524755" y="1016339"/>
                    <a:pt x="1507226" y="1016339"/>
                  </a:cubicBezTo>
                  <a:lnTo>
                    <a:pt x="66096" y="1016339"/>
                  </a:lnTo>
                  <a:cubicBezTo>
                    <a:pt x="48566" y="1016339"/>
                    <a:pt x="31754" y="1009376"/>
                    <a:pt x="19359" y="996980"/>
                  </a:cubicBezTo>
                  <a:cubicBezTo>
                    <a:pt x="6964" y="984585"/>
                    <a:pt x="0" y="967773"/>
                    <a:pt x="0" y="950243"/>
                  </a:cubicBezTo>
                  <a:lnTo>
                    <a:pt x="0" y="66096"/>
                  </a:lnTo>
                  <a:cubicBezTo>
                    <a:pt x="0" y="48566"/>
                    <a:pt x="6964" y="31754"/>
                    <a:pt x="19359" y="19359"/>
                  </a:cubicBezTo>
                  <a:cubicBezTo>
                    <a:pt x="31754" y="6964"/>
                    <a:pt x="48566" y="0"/>
                    <a:pt x="66096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73322" cy="1054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66264" y="6562548"/>
            <a:ext cx="5535542" cy="3321325"/>
          </a:xfrm>
          <a:custGeom>
            <a:avLst/>
            <a:gdLst/>
            <a:ahLst/>
            <a:cxnLst/>
            <a:rect r="r" b="b" t="t" l="l"/>
            <a:pathLst>
              <a:path h="3321325" w="5535542">
                <a:moveTo>
                  <a:pt x="0" y="0"/>
                </a:moveTo>
                <a:lnTo>
                  <a:pt x="5535542" y="0"/>
                </a:lnTo>
                <a:lnTo>
                  <a:pt x="5535542" y="3321326"/>
                </a:lnTo>
                <a:lnTo>
                  <a:pt x="0" y="33213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767749" y="4491744"/>
            <a:ext cx="6644607" cy="4141609"/>
            <a:chOff x="0" y="0"/>
            <a:chExt cx="1750020" cy="10907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50020" cy="1090794"/>
            </a:xfrm>
            <a:custGeom>
              <a:avLst/>
              <a:gdLst/>
              <a:ahLst/>
              <a:cxnLst/>
              <a:rect r="r" b="b" t="t" l="l"/>
              <a:pathLst>
                <a:path h="1090794" w="1750020">
                  <a:moveTo>
                    <a:pt x="59422" y="0"/>
                  </a:moveTo>
                  <a:lnTo>
                    <a:pt x="1690598" y="0"/>
                  </a:lnTo>
                  <a:cubicBezTo>
                    <a:pt x="1723416" y="0"/>
                    <a:pt x="1750020" y="26604"/>
                    <a:pt x="1750020" y="59422"/>
                  </a:cubicBezTo>
                  <a:lnTo>
                    <a:pt x="1750020" y="1031372"/>
                  </a:lnTo>
                  <a:cubicBezTo>
                    <a:pt x="1750020" y="1064190"/>
                    <a:pt x="1723416" y="1090794"/>
                    <a:pt x="1690598" y="1090794"/>
                  </a:cubicBezTo>
                  <a:lnTo>
                    <a:pt x="59422" y="1090794"/>
                  </a:lnTo>
                  <a:cubicBezTo>
                    <a:pt x="43663" y="1090794"/>
                    <a:pt x="28548" y="1084534"/>
                    <a:pt x="17404" y="1073390"/>
                  </a:cubicBezTo>
                  <a:cubicBezTo>
                    <a:pt x="6261" y="1062246"/>
                    <a:pt x="0" y="1047132"/>
                    <a:pt x="0" y="1031372"/>
                  </a:cubicBezTo>
                  <a:lnTo>
                    <a:pt x="0" y="59422"/>
                  </a:lnTo>
                  <a:cubicBezTo>
                    <a:pt x="0" y="43663"/>
                    <a:pt x="6261" y="28548"/>
                    <a:pt x="17404" y="17404"/>
                  </a:cubicBezTo>
                  <a:cubicBezTo>
                    <a:pt x="28548" y="6261"/>
                    <a:pt x="43663" y="0"/>
                    <a:pt x="59422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50020" cy="1128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982724" y="4698151"/>
            <a:ext cx="6214657" cy="3728794"/>
          </a:xfrm>
          <a:custGeom>
            <a:avLst/>
            <a:gdLst/>
            <a:ahLst/>
            <a:cxnLst/>
            <a:rect r="r" b="b" t="t" l="l"/>
            <a:pathLst>
              <a:path h="3728794" w="6214657">
                <a:moveTo>
                  <a:pt x="0" y="0"/>
                </a:moveTo>
                <a:lnTo>
                  <a:pt x="6214657" y="0"/>
                </a:lnTo>
                <a:lnTo>
                  <a:pt x="6214657" y="3728794"/>
                </a:lnTo>
                <a:lnTo>
                  <a:pt x="0" y="3728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482757" y="6057108"/>
            <a:ext cx="6382669" cy="3808234"/>
            <a:chOff x="0" y="0"/>
            <a:chExt cx="1681032" cy="10029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81032" cy="1002992"/>
            </a:xfrm>
            <a:custGeom>
              <a:avLst/>
              <a:gdLst/>
              <a:ahLst/>
              <a:cxnLst/>
              <a:rect r="r" b="b" t="t" l="l"/>
              <a:pathLst>
                <a:path h="1002992" w="1681032">
                  <a:moveTo>
                    <a:pt x="61861" y="0"/>
                  </a:moveTo>
                  <a:lnTo>
                    <a:pt x="1619171" y="0"/>
                  </a:lnTo>
                  <a:cubicBezTo>
                    <a:pt x="1635578" y="0"/>
                    <a:pt x="1651312" y="6517"/>
                    <a:pt x="1662914" y="18119"/>
                  </a:cubicBezTo>
                  <a:cubicBezTo>
                    <a:pt x="1674515" y="29720"/>
                    <a:pt x="1681032" y="45454"/>
                    <a:pt x="1681032" y="61861"/>
                  </a:cubicBezTo>
                  <a:lnTo>
                    <a:pt x="1681032" y="941131"/>
                  </a:lnTo>
                  <a:cubicBezTo>
                    <a:pt x="1681032" y="957537"/>
                    <a:pt x="1674515" y="973272"/>
                    <a:pt x="1662914" y="984873"/>
                  </a:cubicBezTo>
                  <a:cubicBezTo>
                    <a:pt x="1651312" y="996474"/>
                    <a:pt x="1635578" y="1002992"/>
                    <a:pt x="1619171" y="1002992"/>
                  </a:cubicBezTo>
                  <a:lnTo>
                    <a:pt x="61861" y="1002992"/>
                  </a:lnTo>
                  <a:cubicBezTo>
                    <a:pt x="45454" y="1002992"/>
                    <a:pt x="29720" y="996474"/>
                    <a:pt x="18119" y="984873"/>
                  </a:cubicBezTo>
                  <a:cubicBezTo>
                    <a:pt x="6517" y="973272"/>
                    <a:pt x="0" y="957537"/>
                    <a:pt x="0" y="941131"/>
                  </a:cubicBezTo>
                  <a:lnTo>
                    <a:pt x="0" y="61861"/>
                  </a:lnTo>
                  <a:cubicBezTo>
                    <a:pt x="0" y="45454"/>
                    <a:pt x="6517" y="29720"/>
                    <a:pt x="18119" y="18119"/>
                  </a:cubicBezTo>
                  <a:cubicBezTo>
                    <a:pt x="29720" y="6517"/>
                    <a:pt x="45454" y="0"/>
                    <a:pt x="61861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81032" cy="1041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1673569" y="6160911"/>
            <a:ext cx="6001045" cy="3600627"/>
          </a:xfrm>
          <a:custGeom>
            <a:avLst/>
            <a:gdLst/>
            <a:ahLst/>
            <a:cxnLst/>
            <a:rect r="r" b="b" t="t" l="l"/>
            <a:pathLst>
              <a:path h="3600627" w="6001045">
                <a:moveTo>
                  <a:pt x="0" y="0"/>
                </a:moveTo>
                <a:lnTo>
                  <a:pt x="6001044" y="0"/>
                </a:lnTo>
                <a:lnTo>
                  <a:pt x="6001044" y="3600627"/>
                </a:lnTo>
                <a:lnTo>
                  <a:pt x="0" y="3600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238" y="419735"/>
            <a:ext cx="7144669" cy="9481503"/>
            <a:chOff x="0" y="0"/>
            <a:chExt cx="1881724" cy="24971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1724" cy="2497186"/>
            </a:xfrm>
            <a:custGeom>
              <a:avLst/>
              <a:gdLst/>
              <a:ahLst/>
              <a:cxnLst/>
              <a:rect r="r" b="b" t="t" l="l"/>
              <a:pathLst>
                <a:path h="2497186" w="1881724">
                  <a:moveTo>
                    <a:pt x="55263" y="0"/>
                  </a:moveTo>
                  <a:lnTo>
                    <a:pt x="1826460" y="0"/>
                  </a:lnTo>
                  <a:cubicBezTo>
                    <a:pt x="1856981" y="0"/>
                    <a:pt x="1881724" y="24742"/>
                    <a:pt x="1881724" y="55263"/>
                  </a:cubicBezTo>
                  <a:lnTo>
                    <a:pt x="1881724" y="2441923"/>
                  </a:lnTo>
                  <a:cubicBezTo>
                    <a:pt x="1881724" y="2456579"/>
                    <a:pt x="1875901" y="2470636"/>
                    <a:pt x="1865537" y="2481000"/>
                  </a:cubicBezTo>
                  <a:cubicBezTo>
                    <a:pt x="1855173" y="2491364"/>
                    <a:pt x="1841117" y="2497186"/>
                    <a:pt x="1826460" y="2497186"/>
                  </a:cubicBezTo>
                  <a:lnTo>
                    <a:pt x="55263" y="2497186"/>
                  </a:lnTo>
                  <a:cubicBezTo>
                    <a:pt x="24742" y="2497186"/>
                    <a:pt x="0" y="2472444"/>
                    <a:pt x="0" y="2441923"/>
                  </a:cubicBezTo>
                  <a:lnTo>
                    <a:pt x="0" y="55263"/>
                  </a:lnTo>
                  <a:cubicBezTo>
                    <a:pt x="0" y="24742"/>
                    <a:pt x="24742" y="0"/>
                    <a:pt x="5526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81724" cy="253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11859" y="419735"/>
            <a:ext cx="7144669" cy="9481503"/>
            <a:chOff x="0" y="0"/>
            <a:chExt cx="1881724" cy="24971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1724" cy="2497186"/>
            </a:xfrm>
            <a:custGeom>
              <a:avLst/>
              <a:gdLst/>
              <a:ahLst/>
              <a:cxnLst/>
              <a:rect r="r" b="b" t="t" l="l"/>
              <a:pathLst>
                <a:path h="2497186" w="1881724">
                  <a:moveTo>
                    <a:pt x="55263" y="0"/>
                  </a:moveTo>
                  <a:lnTo>
                    <a:pt x="1826460" y="0"/>
                  </a:lnTo>
                  <a:cubicBezTo>
                    <a:pt x="1856981" y="0"/>
                    <a:pt x="1881724" y="24742"/>
                    <a:pt x="1881724" y="55263"/>
                  </a:cubicBezTo>
                  <a:lnTo>
                    <a:pt x="1881724" y="2441923"/>
                  </a:lnTo>
                  <a:cubicBezTo>
                    <a:pt x="1881724" y="2456579"/>
                    <a:pt x="1875901" y="2470636"/>
                    <a:pt x="1865537" y="2481000"/>
                  </a:cubicBezTo>
                  <a:cubicBezTo>
                    <a:pt x="1855173" y="2491364"/>
                    <a:pt x="1841117" y="2497186"/>
                    <a:pt x="1826460" y="2497186"/>
                  </a:cubicBezTo>
                  <a:lnTo>
                    <a:pt x="55263" y="2497186"/>
                  </a:lnTo>
                  <a:cubicBezTo>
                    <a:pt x="24742" y="2497186"/>
                    <a:pt x="0" y="2472444"/>
                    <a:pt x="0" y="2441923"/>
                  </a:cubicBezTo>
                  <a:lnTo>
                    <a:pt x="0" y="55263"/>
                  </a:lnTo>
                  <a:cubicBezTo>
                    <a:pt x="0" y="24742"/>
                    <a:pt x="24742" y="0"/>
                    <a:pt x="55263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81724" cy="253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7322668">
            <a:off x="15009063" y="-274377"/>
            <a:ext cx="3284676" cy="3412650"/>
          </a:xfrm>
          <a:custGeom>
            <a:avLst/>
            <a:gdLst/>
            <a:ahLst/>
            <a:cxnLst/>
            <a:rect r="r" b="b" t="t" l="l"/>
            <a:pathLst>
              <a:path h="3412650" w="3284676">
                <a:moveTo>
                  <a:pt x="0" y="0"/>
                </a:moveTo>
                <a:lnTo>
                  <a:pt x="3284676" y="0"/>
                </a:lnTo>
                <a:lnTo>
                  <a:pt x="3284676" y="3412650"/>
                </a:lnTo>
                <a:lnTo>
                  <a:pt x="0" y="341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7320000">
            <a:off x="-6118" y="-274824"/>
            <a:ext cx="3284676" cy="3412650"/>
          </a:xfrm>
          <a:custGeom>
            <a:avLst/>
            <a:gdLst/>
            <a:ahLst/>
            <a:cxnLst/>
            <a:rect r="r" b="b" t="t" l="l"/>
            <a:pathLst>
              <a:path h="3412650" w="3284676">
                <a:moveTo>
                  <a:pt x="3284676" y="0"/>
                </a:moveTo>
                <a:lnTo>
                  <a:pt x="0" y="0"/>
                </a:lnTo>
                <a:lnTo>
                  <a:pt x="0" y="3412650"/>
                </a:lnTo>
                <a:lnTo>
                  <a:pt x="3284676" y="3412650"/>
                </a:lnTo>
                <a:lnTo>
                  <a:pt x="32846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5634425"/>
            <a:ext cx="5683856" cy="3315583"/>
          </a:xfrm>
          <a:custGeom>
            <a:avLst/>
            <a:gdLst/>
            <a:ahLst/>
            <a:cxnLst/>
            <a:rect r="r" b="b" t="t" l="l"/>
            <a:pathLst>
              <a:path h="3315583" w="5683856">
                <a:moveTo>
                  <a:pt x="0" y="0"/>
                </a:moveTo>
                <a:lnTo>
                  <a:pt x="5683856" y="0"/>
                </a:lnTo>
                <a:lnTo>
                  <a:pt x="5683856" y="3315583"/>
                </a:lnTo>
                <a:lnTo>
                  <a:pt x="0" y="3315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82226" y="5514570"/>
            <a:ext cx="6094787" cy="3555293"/>
          </a:xfrm>
          <a:custGeom>
            <a:avLst/>
            <a:gdLst/>
            <a:ahLst/>
            <a:cxnLst/>
            <a:rect r="r" b="b" t="t" l="l"/>
            <a:pathLst>
              <a:path h="3555293" w="6094787">
                <a:moveTo>
                  <a:pt x="0" y="0"/>
                </a:moveTo>
                <a:lnTo>
                  <a:pt x="6094787" y="0"/>
                </a:lnTo>
                <a:lnTo>
                  <a:pt x="6094787" y="3555293"/>
                </a:lnTo>
                <a:lnTo>
                  <a:pt x="0" y="3555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7468" y="959814"/>
            <a:ext cx="6672210" cy="3892122"/>
          </a:xfrm>
          <a:custGeom>
            <a:avLst/>
            <a:gdLst/>
            <a:ahLst/>
            <a:cxnLst/>
            <a:rect r="r" b="b" t="t" l="l"/>
            <a:pathLst>
              <a:path h="3892122" w="6672210">
                <a:moveTo>
                  <a:pt x="0" y="0"/>
                </a:moveTo>
                <a:lnTo>
                  <a:pt x="6672209" y="0"/>
                </a:lnTo>
                <a:lnTo>
                  <a:pt x="6672209" y="3892122"/>
                </a:lnTo>
                <a:lnTo>
                  <a:pt x="0" y="3892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11605" y="1028700"/>
            <a:ext cx="6436028" cy="3754350"/>
          </a:xfrm>
          <a:custGeom>
            <a:avLst/>
            <a:gdLst/>
            <a:ahLst/>
            <a:cxnLst/>
            <a:rect r="r" b="b" t="t" l="l"/>
            <a:pathLst>
              <a:path h="3754350" w="6436028">
                <a:moveTo>
                  <a:pt x="0" y="0"/>
                </a:moveTo>
                <a:lnTo>
                  <a:pt x="6436028" y="0"/>
                </a:lnTo>
                <a:lnTo>
                  <a:pt x="6436028" y="3754350"/>
                </a:lnTo>
                <a:lnTo>
                  <a:pt x="0" y="3754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10037" y="4347304"/>
            <a:ext cx="5467925" cy="17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4"/>
              </a:lnSpc>
            </a:pPr>
            <a:r>
              <a:rPr lang="en-US" sz="62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VALORI CATEGORICE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886" y="3877603"/>
            <a:ext cx="8406732" cy="5647690"/>
            <a:chOff x="0" y="0"/>
            <a:chExt cx="2214119" cy="14874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4119" cy="1487458"/>
            </a:xfrm>
            <a:custGeom>
              <a:avLst/>
              <a:gdLst/>
              <a:ahLst/>
              <a:cxnLst/>
              <a:rect r="r" b="b" t="t" l="l"/>
              <a:pathLst>
                <a:path h="1487458" w="2214119">
                  <a:moveTo>
                    <a:pt x="46967" y="0"/>
                  </a:moveTo>
                  <a:lnTo>
                    <a:pt x="2167152" y="0"/>
                  </a:lnTo>
                  <a:cubicBezTo>
                    <a:pt x="2193091" y="0"/>
                    <a:pt x="2214119" y="21028"/>
                    <a:pt x="2214119" y="46967"/>
                  </a:cubicBezTo>
                  <a:lnTo>
                    <a:pt x="2214119" y="1440491"/>
                  </a:lnTo>
                  <a:cubicBezTo>
                    <a:pt x="2214119" y="1452947"/>
                    <a:pt x="2209170" y="1464893"/>
                    <a:pt x="2200362" y="1473701"/>
                  </a:cubicBezTo>
                  <a:cubicBezTo>
                    <a:pt x="2191554" y="1482509"/>
                    <a:pt x="2179608" y="1487458"/>
                    <a:pt x="2167152" y="1487458"/>
                  </a:cubicBezTo>
                  <a:lnTo>
                    <a:pt x="46967" y="1487458"/>
                  </a:lnTo>
                  <a:cubicBezTo>
                    <a:pt x="21028" y="1487458"/>
                    <a:pt x="0" y="1466430"/>
                    <a:pt x="0" y="1440491"/>
                  </a:cubicBezTo>
                  <a:lnTo>
                    <a:pt x="0" y="46967"/>
                  </a:lnTo>
                  <a:cubicBezTo>
                    <a:pt x="0" y="34510"/>
                    <a:pt x="4948" y="22564"/>
                    <a:pt x="13756" y="13756"/>
                  </a:cubicBezTo>
                  <a:cubicBezTo>
                    <a:pt x="22564" y="4948"/>
                    <a:pt x="34510" y="0"/>
                    <a:pt x="46967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4119" cy="1525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6921" y="3247390"/>
            <a:ext cx="8287669" cy="6653847"/>
            <a:chOff x="0" y="0"/>
            <a:chExt cx="2182761" cy="175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761" cy="1752454"/>
            </a:xfrm>
            <a:custGeom>
              <a:avLst/>
              <a:gdLst/>
              <a:ahLst/>
              <a:cxnLst/>
              <a:rect r="r" b="b" t="t" l="l"/>
              <a:pathLst>
                <a:path h="1752454" w="2182761">
                  <a:moveTo>
                    <a:pt x="47642" y="0"/>
                  </a:moveTo>
                  <a:lnTo>
                    <a:pt x="2135119" y="0"/>
                  </a:lnTo>
                  <a:cubicBezTo>
                    <a:pt x="2161431" y="0"/>
                    <a:pt x="2182761" y="21330"/>
                    <a:pt x="2182761" y="47642"/>
                  </a:cubicBezTo>
                  <a:lnTo>
                    <a:pt x="2182761" y="1704812"/>
                  </a:lnTo>
                  <a:cubicBezTo>
                    <a:pt x="2182761" y="1731124"/>
                    <a:pt x="2161431" y="1752454"/>
                    <a:pt x="2135119" y="1752454"/>
                  </a:cubicBezTo>
                  <a:lnTo>
                    <a:pt x="47642" y="1752454"/>
                  </a:lnTo>
                  <a:cubicBezTo>
                    <a:pt x="21330" y="1752454"/>
                    <a:pt x="0" y="1731124"/>
                    <a:pt x="0" y="1704812"/>
                  </a:cubicBezTo>
                  <a:lnTo>
                    <a:pt x="0" y="47642"/>
                  </a:lnTo>
                  <a:cubicBezTo>
                    <a:pt x="0" y="21330"/>
                    <a:pt x="21330" y="0"/>
                    <a:pt x="47642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2761" cy="179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7322668">
            <a:off x="15009063" y="-274377"/>
            <a:ext cx="3284676" cy="3412650"/>
          </a:xfrm>
          <a:custGeom>
            <a:avLst/>
            <a:gdLst/>
            <a:ahLst/>
            <a:cxnLst/>
            <a:rect r="r" b="b" t="t" l="l"/>
            <a:pathLst>
              <a:path h="3412650" w="3284676">
                <a:moveTo>
                  <a:pt x="0" y="0"/>
                </a:moveTo>
                <a:lnTo>
                  <a:pt x="3284676" y="0"/>
                </a:lnTo>
                <a:lnTo>
                  <a:pt x="3284676" y="3412650"/>
                </a:lnTo>
                <a:lnTo>
                  <a:pt x="0" y="341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7320000">
            <a:off x="-6118" y="-274824"/>
            <a:ext cx="3284676" cy="3412650"/>
          </a:xfrm>
          <a:custGeom>
            <a:avLst/>
            <a:gdLst/>
            <a:ahLst/>
            <a:cxnLst/>
            <a:rect r="r" b="b" t="t" l="l"/>
            <a:pathLst>
              <a:path h="3412650" w="3284676">
                <a:moveTo>
                  <a:pt x="3284676" y="0"/>
                </a:moveTo>
                <a:lnTo>
                  <a:pt x="0" y="0"/>
                </a:lnTo>
                <a:lnTo>
                  <a:pt x="0" y="3412650"/>
                </a:lnTo>
                <a:lnTo>
                  <a:pt x="3284676" y="3412650"/>
                </a:lnTo>
                <a:lnTo>
                  <a:pt x="32846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55359" y="3877603"/>
            <a:ext cx="6990794" cy="5592635"/>
          </a:xfrm>
          <a:custGeom>
            <a:avLst/>
            <a:gdLst/>
            <a:ahLst/>
            <a:cxnLst/>
            <a:rect r="r" b="b" t="t" l="l"/>
            <a:pathLst>
              <a:path h="5592635" w="6990794">
                <a:moveTo>
                  <a:pt x="0" y="0"/>
                </a:moveTo>
                <a:lnTo>
                  <a:pt x="6990794" y="0"/>
                </a:lnTo>
                <a:lnTo>
                  <a:pt x="6990794" y="5592635"/>
                </a:lnTo>
                <a:lnTo>
                  <a:pt x="0" y="5592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8981" y="4352768"/>
            <a:ext cx="7902543" cy="4741526"/>
          </a:xfrm>
          <a:custGeom>
            <a:avLst/>
            <a:gdLst/>
            <a:ahLst/>
            <a:cxnLst/>
            <a:rect r="r" b="b" t="t" l="l"/>
            <a:pathLst>
              <a:path h="4741526" w="7902543">
                <a:moveTo>
                  <a:pt x="0" y="0"/>
                </a:moveTo>
                <a:lnTo>
                  <a:pt x="7902542" y="0"/>
                </a:lnTo>
                <a:lnTo>
                  <a:pt x="7902542" y="4741526"/>
                </a:lnTo>
                <a:lnTo>
                  <a:pt x="0" y="4741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60660" y="375308"/>
            <a:ext cx="8245916" cy="220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CORELAREA ATRIBUTELOR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66105" y="3963634"/>
            <a:ext cx="8525436" cy="23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3"/>
              </a:lnSpc>
            </a:pPr>
            <a:r>
              <a:rPr lang="en-US" sz="13916">
                <a:solidFill>
                  <a:srgbClr val="FFF5DF"/>
                </a:solidFill>
                <a:latin typeface="Hibernate"/>
                <a:ea typeface="Hibernate"/>
                <a:cs typeface="Hibernate"/>
                <a:sym typeface="Hibernate"/>
              </a:rPr>
              <a:t>pentru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70706" y="2490904"/>
            <a:ext cx="12149433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MULTUMIM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6851" y="5917294"/>
            <a:ext cx="16063943" cy="2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ATENTIE</a:t>
            </a:r>
          </a:p>
          <a:p>
            <a:pPr algn="ctr">
              <a:lnSpc>
                <a:spcPts val="2139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-1734208">
            <a:off x="174047" y="-274320"/>
            <a:ext cx="5387627" cy="4114800"/>
          </a:xfrm>
          <a:custGeom>
            <a:avLst/>
            <a:gdLst/>
            <a:ahLst/>
            <a:cxnLst/>
            <a:rect r="r" b="b" t="t" l="l"/>
            <a:pathLst>
              <a:path h="4114800" w="5387627">
                <a:moveTo>
                  <a:pt x="0" y="0"/>
                </a:moveTo>
                <a:lnTo>
                  <a:pt x="5387627" y="0"/>
                </a:lnTo>
                <a:lnTo>
                  <a:pt x="53876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DAG5hKXRshY</dc:identifier>
  <dcterms:modified xsi:type="dcterms:W3CDTF">2011-08-01T06:04:30Z</dcterms:modified>
  <cp:revision>1</cp:revision>
  <dc:title>Budget Predition</dc:title>
</cp:coreProperties>
</file>