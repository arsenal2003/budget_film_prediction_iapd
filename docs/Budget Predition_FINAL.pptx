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Hibernate" charset="1" panose="02000503000000000000"/>
      <p:regular r:id="rId21"/>
    </p:embeddedFont>
    <p:embeddedFont>
      <p:font typeface="Boulder" charset="1" panose="00000000000000000000"/>
      <p:regular r:id="rId22"/>
    </p:embeddedFont>
    <p:embeddedFont>
      <p:font typeface="Quicksand Bold" charset="1" panose="00000000000000000000"/>
      <p:regular r:id="rId23"/>
    </p:embeddedFont>
    <p:embeddedFont>
      <p:font typeface="Quicksand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50273">
            <a:off x="-212300" y="6094686"/>
            <a:ext cx="4822530" cy="3074363"/>
          </a:xfrm>
          <a:custGeom>
            <a:avLst/>
            <a:gdLst/>
            <a:ahLst/>
            <a:cxnLst/>
            <a:rect r="r" b="b" t="t" l="l"/>
            <a:pathLst>
              <a:path h="3074363" w="4822530">
                <a:moveTo>
                  <a:pt x="0" y="0"/>
                </a:moveTo>
                <a:lnTo>
                  <a:pt x="4822530" y="0"/>
                </a:lnTo>
                <a:lnTo>
                  <a:pt x="4822530" y="3074363"/>
                </a:lnTo>
                <a:lnTo>
                  <a:pt x="0" y="3074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67796">
            <a:off x="14327252" y="6212454"/>
            <a:ext cx="4099370" cy="4114800"/>
          </a:xfrm>
          <a:custGeom>
            <a:avLst/>
            <a:gdLst/>
            <a:ahLst/>
            <a:cxnLst/>
            <a:rect r="r" b="b" t="t" l="l"/>
            <a:pathLst>
              <a:path h="4114800" w="4099370">
                <a:moveTo>
                  <a:pt x="0" y="0"/>
                </a:moveTo>
                <a:lnTo>
                  <a:pt x="4099370" y="0"/>
                </a:lnTo>
                <a:lnTo>
                  <a:pt x="4099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69966">
            <a:off x="-1180376" y="-506571"/>
            <a:ext cx="7315200" cy="2819677"/>
          </a:xfrm>
          <a:custGeom>
            <a:avLst/>
            <a:gdLst/>
            <a:ahLst/>
            <a:cxnLst/>
            <a:rect r="r" b="b" t="t" l="l"/>
            <a:pathLst>
              <a:path h="2819677" w="7315200">
                <a:moveTo>
                  <a:pt x="0" y="0"/>
                </a:moveTo>
                <a:lnTo>
                  <a:pt x="7315200" y="0"/>
                </a:lnTo>
                <a:lnTo>
                  <a:pt x="7315200" y="2819677"/>
                </a:lnTo>
                <a:lnTo>
                  <a:pt x="0" y="28196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97118">
            <a:off x="14307383" y="468131"/>
            <a:ext cx="6199017" cy="2650080"/>
          </a:xfrm>
          <a:custGeom>
            <a:avLst/>
            <a:gdLst/>
            <a:ahLst/>
            <a:cxnLst/>
            <a:rect r="r" b="b" t="t" l="l"/>
            <a:pathLst>
              <a:path h="2650080" w="6199017">
                <a:moveTo>
                  <a:pt x="0" y="0"/>
                </a:moveTo>
                <a:lnTo>
                  <a:pt x="6199017" y="0"/>
                </a:lnTo>
                <a:lnTo>
                  <a:pt x="6199017" y="2650080"/>
                </a:lnTo>
                <a:lnTo>
                  <a:pt x="0" y="26500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66395" y="8412480"/>
            <a:ext cx="7355211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0"/>
              </a:lnSpc>
            </a:pPr>
            <a:r>
              <a:rPr lang="en-US" sz="6000">
                <a:solidFill>
                  <a:srgbClr val="FDF6F6"/>
                </a:solidFill>
                <a:latin typeface="Hibernate"/>
                <a:ea typeface="Hibernate"/>
                <a:cs typeface="Hibernate"/>
                <a:sym typeface="Hibernate"/>
              </a:rPr>
              <a:t>Mandru  Luca Teodor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58531" y="7424034"/>
            <a:ext cx="7355211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0"/>
              </a:lnSpc>
            </a:pPr>
            <a:r>
              <a:rPr lang="en-US" sz="6000">
                <a:solidFill>
                  <a:srgbClr val="FDF6F6"/>
                </a:solidFill>
                <a:latin typeface="Hibernate"/>
                <a:ea typeface="Hibernate"/>
                <a:cs typeface="Hibernate"/>
                <a:sym typeface="Hibernate"/>
              </a:rPr>
              <a:t>Costescu Matei Cristian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087530" y="1028700"/>
            <a:ext cx="15171770" cy="5060943"/>
            <a:chOff x="0" y="0"/>
            <a:chExt cx="20229027" cy="674792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269280" y="-266700"/>
              <a:ext cx="15662071" cy="30923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483"/>
                </a:lnSpc>
              </a:pPr>
              <a:r>
                <a:rPr lang="en-US" sz="13916">
                  <a:solidFill>
                    <a:srgbClr val="FFF5DF"/>
                  </a:solidFill>
                  <a:latin typeface="Hibernate"/>
                  <a:ea typeface="Hibernate"/>
                  <a:cs typeface="Hibernate"/>
                  <a:sym typeface="Hibernate"/>
                </a:rPr>
                <a:t>PREDICTIA INCASARILOR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932973"/>
              <a:ext cx="18796933" cy="3575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309"/>
                </a:lnSpc>
              </a:pPr>
              <a:r>
                <a:rPr lang="en-US" sz="9635">
                  <a:solidFill>
                    <a:srgbClr val="F4C366"/>
                  </a:solidFill>
                  <a:latin typeface="Boulder"/>
                  <a:ea typeface="Boulder"/>
                  <a:cs typeface="Boulder"/>
                  <a:sym typeface="Boulder"/>
                </a:rPr>
                <a:t>PE BAZA ACTORILOR CARE JOACA 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2864024" y="815144"/>
              <a:ext cx="7365003" cy="14430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2"/>
                </a:lnSpc>
              </a:pPr>
              <a:r>
                <a:rPr lang="en-US" sz="6544">
                  <a:solidFill>
                    <a:srgbClr val="C1272D"/>
                  </a:solidFill>
                  <a:latin typeface="Hibernate"/>
                  <a:ea typeface="Hibernate"/>
                  <a:cs typeface="Hibernate"/>
                  <a:sym typeface="Hibernate"/>
                </a:rPr>
                <a:t>UNUI FILM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920090" y="5304877"/>
              <a:ext cx="7365003" cy="14430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2"/>
                </a:lnSpc>
              </a:pPr>
              <a:r>
                <a:rPr lang="en-US" sz="6544">
                  <a:solidFill>
                    <a:srgbClr val="C1272D"/>
                  </a:solidFill>
                  <a:latin typeface="Hibernate"/>
                  <a:ea typeface="Hibernate"/>
                  <a:cs typeface="Hibernate"/>
                  <a:sym typeface="Hibernate"/>
                </a:rPr>
                <a:t>IN ACESTA 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053731" y="5602085"/>
            <a:ext cx="8250898" cy="167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85"/>
              </a:lnSpc>
            </a:pPr>
            <a:r>
              <a:rPr lang="en-US" sz="9775">
                <a:solidFill>
                  <a:srgbClr val="FFF5DF"/>
                </a:solidFill>
                <a:latin typeface="Hibernate"/>
                <a:ea typeface="Hibernate"/>
                <a:cs typeface="Hibernate"/>
                <a:sym typeface="Hibernate"/>
              </a:rPr>
              <a:t>PROIECT IAPD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7537" y="3670672"/>
            <a:ext cx="1642353" cy="1642353"/>
            <a:chOff x="0" y="0"/>
            <a:chExt cx="2189804" cy="218980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89804" cy="218980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272D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93661" y="123825"/>
              <a:ext cx="802481" cy="1899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699"/>
                </a:lnSpc>
              </a:pPr>
              <a:r>
                <a:rPr lang="en-US" sz="9999">
                  <a:solidFill>
                    <a:srgbClr val="F4C366"/>
                  </a:solidFill>
                  <a:latin typeface="Boulder"/>
                  <a:ea typeface="Boulder"/>
                  <a:cs typeface="Boulder"/>
                  <a:sym typeface="Boulder"/>
                </a:rPr>
                <a:t>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061594" y="6596725"/>
            <a:ext cx="1642353" cy="1642353"/>
            <a:chOff x="0" y="0"/>
            <a:chExt cx="2189804" cy="218980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189804" cy="2189804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272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556839" y="123825"/>
              <a:ext cx="1076127" cy="1899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699"/>
                </a:lnSpc>
              </a:pPr>
              <a:r>
                <a:rPr lang="en-US" sz="9999">
                  <a:solidFill>
                    <a:srgbClr val="F4C366"/>
                  </a:solidFill>
                  <a:latin typeface="Boulder"/>
                  <a:ea typeface="Boulder"/>
                  <a:cs typeface="Boulder"/>
                  <a:sym typeface="Boulder"/>
                </a:rPr>
                <a:t>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959796" y="3441005"/>
            <a:ext cx="1642353" cy="1642353"/>
            <a:chOff x="0" y="0"/>
            <a:chExt cx="2189804" cy="218980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189804" cy="2189804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272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58525" y="123825"/>
              <a:ext cx="1072753" cy="1899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699"/>
                </a:lnSpc>
              </a:pPr>
              <a:r>
                <a:rPr lang="en-US" sz="9999">
                  <a:solidFill>
                    <a:srgbClr val="F4C366"/>
                  </a:solidFill>
                  <a:latin typeface="Boulder"/>
                  <a:ea typeface="Boulder"/>
                  <a:cs typeface="Boulder"/>
                  <a:sym typeface="Boulder"/>
                </a:rPr>
                <a:t>3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8755218">
            <a:off x="14231856" y="-524307"/>
            <a:ext cx="4689852" cy="4338113"/>
          </a:xfrm>
          <a:custGeom>
            <a:avLst/>
            <a:gdLst/>
            <a:ahLst/>
            <a:cxnLst/>
            <a:rect r="r" b="b" t="t" l="l"/>
            <a:pathLst>
              <a:path h="4338113" w="4689852">
                <a:moveTo>
                  <a:pt x="0" y="0"/>
                </a:moveTo>
                <a:lnTo>
                  <a:pt x="4689852" y="0"/>
                </a:lnTo>
                <a:lnTo>
                  <a:pt x="4689852" y="4338113"/>
                </a:lnTo>
                <a:lnTo>
                  <a:pt x="0" y="43381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17537" y="1333873"/>
            <a:ext cx="10170622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99"/>
              </a:lnSpc>
            </a:pPr>
            <a:r>
              <a:rPr lang="en-US" sz="9999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INTRODUCERE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84972" y="7154257"/>
            <a:ext cx="5085513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>
                <a:solidFill>
                  <a:srgbClr val="FDF6F6"/>
                </a:solidFill>
                <a:latin typeface="Hibernate"/>
                <a:ea typeface="Hibernate"/>
                <a:cs typeface="Hibernate"/>
                <a:sym typeface="Hibernate"/>
              </a:rPr>
              <a:t>MODELE FOLOSITE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10641" y="3845304"/>
            <a:ext cx="6466141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>
                <a:solidFill>
                  <a:srgbClr val="FDF6F6"/>
                </a:solidFill>
                <a:latin typeface="Hibernate"/>
                <a:ea typeface="Hibernate"/>
                <a:cs typeface="Hibernate"/>
                <a:sym typeface="Hibernate"/>
              </a:rPr>
              <a:t>ANALIZA DATELOR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2065341">
            <a:off x="-2240063" y="7235417"/>
            <a:ext cx="7315200" cy="2819677"/>
          </a:xfrm>
          <a:custGeom>
            <a:avLst/>
            <a:gdLst/>
            <a:ahLst/>
            <a:cxnLst/>
            <a:rect r="r" b="b" t="t" l="l"/>
            <a:pathLst>
              <a:path h="2819677" w="7315200">
                <a:moveTo>
                  <a:pt x="0" y="0"/>
                </a:moveTo>
                <a:lnTo>
                  <a:pt x="7315200" y="0"/>
                </a:lnTo>
                <a:lnTo>
                  <a:pt x="7315200" y="2819677"/>
                </a:lnTo>
                <a:lnTo>
                  <a:pt x="0" y="28196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1525371">
            <a:off x="16477115" y="6873988"/>
            <a:ext cx="1080248" cy="2919589"/>
          </a:xfrm>
          <a:custGeom>
            <a:avLst/>
            <a:gdLst/>
            <a:ahLst/>
            <a:cxnLst/>
            <a:rect r="r" b="b" t="t" l="l"/>
            <a:pathLst>
              <a:path h="2919589" w="1080248">
                <a:moveTo>
                  <a:pt x="0" y="0"/>
                </a:moveTo>
                <a:lnTo>
                  <a:pt x="1080248" y="0"/>
                </a:lnTo>
                <a:lnTo>
                  <a:pt x="1080248" y="2919590"/>
                </a:lnTo>
                <a:lnTo>
                  <a:pt x="0" y="29195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774687" y="4074972"/>
            <a:ext cx="5085513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>
                <a:solidFill>
                  <a:srgbClr val="FDF6F6"/>
                </a:solidFill>
                <a:latin typeface="Hibernate"/>
                <a:ea typeface="Hibernate"/>
                <a:cs typeface="Hibernate"/>
                <a:sym typeface="Hibernate"/>
              </a:rPr>
              <a:t>RECAP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953215" y="5752058"/>
            <a:ext cx="1642353" cy="1665843"/>
            <a:chOff x="0" y="0"/>
            <a:chExt cx="2189804" cy="2221125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31321"/>
              <a:ext cx="2189804" cy="2189804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272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506876" y="133350"/>
              <a:ext cx="1177178" cy="1890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702"/>
                </a:lnSpc>
              </a:pPr>
              <a:r>
                <a:rPr lang="en-US" sz="10002">
                  <a:solidFill>
                    <a:srgbClr val="F4C366"/>
                  </a:solidFill>
                  <a:latin typeface="Boulder"/>
                  <a:ea typeface="Boulder"/>
                  <a:cs typeface="Boulder"/>
                  <a:sym typeface="Boulder"/>
                </a:rPr>
                <a:t>4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046229" y="6168102"/>
            <a:ext cx="5085513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>
                <a:solidFill>
                  <a:srgbClr val="FDF6F6"/>
                </a:solidFill>
                <a:latin typeface="Hibernate"/>
                <a:ea typeface="Hibernate"/>
                <a:cs typeface="Hibernate"/>
                <a:sym typeface="Hibernate"/>
              </a:rPr>
              <a:t>REZULTATE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6469" y="1028700"/>
            <a:ext cx="14335062" cy="8229600"/>
            <a:chOff x="0" y="0"/>
            <a:chExt cx="3775489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75489" cy="2167467"/>
            </a:xfrm>
            <a:custGeom>
              <a:avLst/>
              <a:gdLst/>
              <a:ahLst/>
              <a:cxnLst/>
              <a:rect r="r" b="b" t="t" l="l"/>
              <a:pathLst>
                <a:path h="2167467" w="3775489">
                  <a:moveTo>
                    <a:pt x="27544" y="0"/>
                  </a:moveTo>
                  <a:lnTo>
                    <a:pt x="3747946" y="0"/>
                  </a:lnTo>
                  <a:cubicBezTo>
                    <a:pt x="3755251" y="0"/>
                    <a:pt x="3762257" y="2902"/>
                    <a:pt x="3767422" y="8067"/>
                  </a:cubicBezTo>
                  <a:cubicBezTo>
                    <a:pt x="3772588" y="13233"/>
                    <a:pt x="3775489" y="20239"/>
                    <a:pt x="3775489" y="27544"/>
                  </a:cubicBezTo>
                  <a:lnTo>
                    <a:pt x="3775489" y="2139923"/>
                  </a:lnTo>
                  <a:cubicBezTo>
                    <a:pt x="3775489" y="2147228"/>
                    <a:pt x="3772588" y="2154234"/>
                    <a:pt x="3767422" y="2159399"/>
                  </a:cubicBezTo>
                  <a:cubicBezTo>
                    <a:pt x="3762257" y="2164565"/>
                    <a:pt x="3755251" y="2167467"/>
                    <a:pt x="3747946" y="2167467"/>
                  </a:cubicBezTo>
                  <a:lnTo>
                    <a:pt x="27544" y="2167467"/>
                  </a:lnTo>
                  <a:cubicBezTo>
                    <a:pt x="20239" y="2167467"/>
                    <a:pt x="13233" y="2164565"/>
                    <a:pt x="8067" y="2159399"/>
                  </a:cubicBezTo>
                  <a:cubicBezTo>
                    <a:pt x="2902" y="2154234"/>
                    <a:pt x="0" y="2147228"/>
                    <a:pt x="0" y="2139923"/>
                  </a:cubicBezTo>
                  <a:lnTo>
                    <a:pt x="0" y="27544"/>
                  </a:lnTo>
                  <a:cubicBezTo>
                    <a:pt x="0" y="20239"/>
                    <a:pt x="2902" y="13233"/>
                    <a:pt x="8067" y="8067"/>
                  </a:cubicBezTo>
                  <a:cubicBezTo>
                    <a:pt x="13233" y="2902"/>
                    <a:pt x="20239" y="0"/>
                    <a:pt x="27544" y="0"/>
                  </a:cubicBezTo>
                  <a:close/>
                </a:path>
              </a:pathLst>
            </a:custGeom>
            <a:solidFill>
              <a:srgbClr val="925F64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75489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18470" y="1301006"/>
            <a:ext cx="13820706" cy="7684988"/>
            <a:chOff x="0" y="0"/>
            <a:chExt cx="3640021" cy="20240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40021" cy="2024030"/>
            </a:xfrm>
            <a:custGeom>
              <a:avLst/>
              <a:gdLst/>
              <a:ahLst/>
              <a:cxnLst/>
              <a:rect r="r" b="b" t="t" l="l"/>
              <a:pathLst>
                <a:path h="2024030" w="3640021">
                  <a:moveTo>
                    <a:pt x="28569" y="0"/>
                  </a:moveTo>
                  <a:lnTo>
                    <a:pt x="3611453" y="0"/>
                  </a:lnTo>
                  <a:cubicBezTo>
                    <a:pt x="3619029" y="0"/>
                    <a:pt x="3626296" y="3010"/>
                    <a:pt x="3631654" y="8368"/>
                  </a:cubicBezTo>
                  <a:cubicBezTo>
                    <a:pt x="3637011" y="13725"/>
                    <a:pt x="3640021" y="20992"/>
                    <a:pt x="3640021" y="28569"/>
                  </a:cubicBezTo>
                  <a:lnTo>
                    <a:pt x="3640021" y="1995461"/>
                  </a:lnTo>
                  <a:cubicBezTo>
                    <a:pt x="3640021" y="2003038"/>
                    <a:pt x="3637011" y="2010305"/>
                    <a:pt x="3631654" y="2015662"/>
                  </a:cubicBezTo>
                  <a:cubicBezTo>
                    <a:pt x="3626296" y="2021020"/>
                    <a:pt x="3619029" y="2024030"/>
                    <a:pt x="3611453" y="2024030"/>
                  </a:cubicBezTo>
                  <a:lnTo>
                    <a:pt x="28569" y="2024030"/>
                  </a:lnTo>
                  <a:cubicBezTo>
                    <a:pt x="20992" y="2024030"/>
                    <a:pt x="13725" y="2021020"/>
                    <a:pt x="8368" y="2015662"/>
                  </a:cubicBezTo>
                  <a:cubicBezTo>
                    <a:pt x="3010" y="2010305"/>
                    <a:pt x="0" y="2003038"/>
                    <a:pt x="0" y="1995461"/>
                  </a:cubicBezTo>
                  <a:lnTo>
                    <a:pt x="0" y="28569"/>
                  </a:lnTo>
                  <a:cubicBezTo>
                    <a:pt x="0" y="20992"/>
                    <a:pt x="3010" y="13725"/>
                    <a:pt x="8368" y="8368"/>
                  </a:cubicBezTo>
                  <a:cubicBezTo>
                    <a:pt x="13725" y="3010"/>
                    <a:pt x="20992" y="0"/>
                    <a:pt x="2856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19100" cap="rnd">
              <a:solidFill>
                <a:srgbClr val="E9BB6D"/>
              </a:solidFill>
              <a:prstDash val="sysDot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40021" cy="2062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67860" y="1948449"/>
            <a:ext cx="12552280" cy="6390101"/>
            <a:chOff x="0" y="0"/>
            <a:chExt cx="3305950" cy="1682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5950" cy="1682990"/>
            </a:xfrm>
            <a:custGeom>
              <a:avLst/>
              <a:gdLst/>
              <a:ahLst/>
              <a:cxnLst/>
              <a:rect r="r" b="b" t="t" l="l"/>
              <a:pathLst>
                <a:path h="1682990" w="3305950">
                  <a:moveTo>
                    <a:pt x="31455" y="0"/>
                  </a:moveTo>
                  <a:lnTo>
                    <a:pt x="3274495" y="0"/>
                  </a:lnTo>
                  <a:cubicBezTo>
                    <a:pt x="3282837" y="0"/>
                    <a:pt x="3290838" y="3314"/>
                    <a:pt x="3296737" y="9213"/>
                  </a:cubicBezTo>
                  <a:cubicBezTo>
                    <a:pt x="3302636" y="15112"/>
                    <a:pt x="3305950" y="23113"/>
                    <a:pt x="3305950" y="31455"/>
                  </a:cubicBezTo>
                  <a:lnTo>
                    <a:pt x="3305950" y="1651534"/>
                  </a:lnTo>
                  <a:cubicBezTo>
                    <a:pt x="3305950" y="1668907"/>
                    <a:pt x="3291867" y="1682990"/>
                    <a:pt x="3274495" y="1682990"/>
                  </a:cubicBezTo>
                  <a:lnTo>
                    <a:pt x="31455" y="1682990"/>
                  </a:lnTo>
                  <a:cubicBezTo>
                    <a:pt x="23113" y="1682990"/>
                    <a:pt x="15112" y="1679676"/>
                    <a:pt x="9213" y="1673777"/>
                  </a:cubicBezTo>
                  <a:cubicBezTo>
                    <a:pt x="3314" y="1667878"/>
                    <a:pt x="0" y="1659877"/>
                    <a:pt x="0" y="1651534"/>
                  </a:cubicBezTo>
                  <a:lnTo>
                    <a:pt x="0" y="31455"/>
                  </a:lnTo>
                  <a:cubicBezTo>
                    <a:pt x="0" y="23113"/>
                    <a:pt x="3314" y="15112"/>
                    <a:pt x="9213" y="9213"/>
                  </a:cubicBezTo>
                  <a:cubicBezTo>
                    <a:pt x="15112" y="3314"/>
                    <a:pt x="23113" y="0"/>
                    <a:pt x="31455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05950" cy="1721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374937" y="4211299"/>
            <a:ext cx="11538125" cy="209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9"/>
              </a:lnSpc>
            </a:pPr>
            <a:r>
              <a:rPr lang="en-US" sz="14961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RECAP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606585">
            <a:off x="14247145" y="4668767"/>
            <a:ext cx="3573158" cy="4913093"/>
          </a:xfrm>
          <a:custGeom>
            <a:avLst/>
            <a:gdLst/>
            <a:ahLst/>
            <a:cxnLst/>
            <a:rect r="r" b="b" t="t" l="l"/>
            <a:pathLst>
              <a:path h="4913093" w="3573158">
                <a:moveTo>
                  <a:pt x="0" y="0"/>
                </a:moveTo>
                <a:lnTo>
                  <a:pt x="3573158" y="0"/>
                </a:lnTo>
                <a:lnTo>
                  <a:pt x="3573158" y="4913093"/>
                </a:lnTo>
                <a:lnTo>
                  <a:pt x="0" y="491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06585">
            <a:off x="14794702" y="3818267"/>
            <a:ext cx="3573158" cy="4913093"/>
          </a:xfrm>
          <a:custGeom>
            <a:avLst/>
            <a:gdLst/>
            <a:ahLst/>
            <a:cxnLst/>
            <a:rect r="r" b="b" t="t" l="l"/>
            <a:pathLst>
              <a:path h="4913093" w="3573158">
                <a:moveTo>
                  <a:pt x="0" y="0"/>
                </a:moveTo>
                <a:lnTo>
                  <a:pt x="3573159" y="0"/>
                </a:lnTo>
                <a:lnTo>
                  <a:pt x="3573159" y="4913093"/>
                </a:lnTo>
                <a:lnTo>
                  <a:pt x="0" y="491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53352">
            <a:off x="650911" y="54039"/>
            <a:ext cx="3802992" cy="6556883"/>
          </a:xfrm>
          <a:custGeom>
            <a:avLst/>
            <a:gdLst/>
            <a:ahLst/>
            <a:cxnLst/>
            <a:rect r="r" b="b" t="t" l="l"/>
            <a:pathLst>
              <a:path h="6556883" w="3802992">
                <a:moveTo>
                  <a:pt x="0" y="0"/>
                </a:moveTo>
                <a:lnTo>
                  <a:pt x="3802993" y="0"/>
                </a:lnTo>
                <a:lnTo>
                  <a:pt x="3802993" y="6556883"/>
                </a:lnTo>
                <a:lnTo>
                  <a:pt x="0" y="65568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01267" y="3542803"/>
            <a:ext cx="13718589" cy="4849853"/>
            <a:chOff x="0" y="0"/>
            <a:chExt cx="3613126" cy="12773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3126" cy="1277327"/>
            </a:xfrm>
            <a:custGeom>
              <a:avLst/>
              <a:gdLst/>
              <a:ahLst/>
              <a:cxnLst/>
              <a:rect r="r" b="b" t="t" l="l"/>
              <a:pathLst>
                <a:path h="1277327" w="3613126">
                  <a:moveTo>
                    <a:pt x="28781" y="0"/>
                  </a:moveTo>
                  <a:lnTo>
                    <a:pt x="3584345" y="0"/>
                  </a:lnTo>
                  <a:cubicBezTo>
                    <a:pt x="3591978" y="0"/>
                    <a:pt x="3599299" y="3032"/>
                    <a:pt x="3604697" y="8430"/>
                  </a:cubicBezTo>
                  <a:cubicBezTo>
                    <a:pt x="3610094" y="13827"/>
                    <a:pt x="3613126" y="21148"/>
                    <a:pt x="3613126" y="28781"/>
                  </a:cubicBezTo>
                  <a:lnTo>
                    <a:pt x="3613126" y="1248546"/>
                  </a:lnTo>
                  <a:cubicBezTo>
                    <a:pt x="3613126" y="1256180"/>
                    <a:pt x="3610094" y="1263500"/>
                    <a:pt x="3604697" y="1268898"/>
                  </a:cubicBezTo>
                  <a:cubicBezTo>
                    <a:pt x="3599299" y="1274295"/>
                    <a:pt x="3591978" y="1277327"/>
                    <a:pt x="3584345" y="1277327"/>
                  </a:cubicBezTo>
                  <a:lnTo>
                    <a:pt x="28781" y="1277327"/>
                  </a:lnTo>
                  <a:cubicBezTo>
                    <a:pt x="21148" y="1277327"/>
                    <a:pt x="13827" y="1274295"/>
                    <a:pt x="8430" y="1268898"/>
                  </a:cubicBezTo>
                  <a:cubicBezTo>
                    <a:pt x="3032" y="1263500"/>
                    <a:pt x="0" y="1256180"/>
                    <a:pt x="0" y="1248546"/>
                  </a:cubicBezTo>
                  <a:lnTo>
                    <a:pt x="0" y="28781"/>
                  </a:lnTo>
                  <a:cubicBezTo>
                    <a:pt x="0" y="21148"/>
                    <a:pt x="3032" y="13827"/>
                    <a:pt x="8430" y="8430"/>
                  </a:cubicBezTo>
                  <a:cubicBezTo>
                    <a:pt x="13827" y="3032"/>
                    <a:pt x="21148" y="0"/>
                    <a:pt x="28781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613126" cy="1315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8755218">
            <a:off x="12046307" y="7688268"/>
            <a:ext cx="4689852" cy="4338113"/>
          </a:xfrm>
          <a:custGeom>
            <a:avLst/>
            <a:gdLst/>
            <a:ahLst/>
            <a:cxnLst/>
            <a:rect r="r" b="b" t="t" l="l"/>
            <a:pathLst>
              <a:path h="4338113" w="4689852">
                <a:moveTo>
                  <a:pt x="0" y="0"/>
                </a:moveTo>
                <a:lnTo>
                  <a:pt x="4689852" y="0"/>
                </a:lnTo>
                <a:lnTo>
                  <a:pt x="4689852" y="4338113"/>
                </a:lnTo>
                <a:lnTo>
                  <a:pt x="0" y="43381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552407" y="4326398"/>
            <a:ext cx="698356" cy="6983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1601" lIns="21601" bIns="21601" rIns="21601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590045" y="4269248"/>
            <a:ext cx="11929812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Ideea proiectului nostru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Proiectul nostru urmărește să prezică încasările unui film folosind factori precum actorii principali, regizorul, genul, rating-ul și popularitatea filmului. Scopul este de a identifica tiparele care influențează succesul financiar și de a estima veniturile potențiale înainte de lansare, oferind astfel informații valoroase pentru studiouri și investitori.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552407" y="7172642"/>
            <a:ext cx="698356" cy="6983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1601" lIns="21601" bIns="21601" rIns="21601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590045" y="7285600"/>
            <a:ext cx="1071401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Scopul proiectului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6469" y="1028700"/>
            <a:ext cx="14335062" cy="8229600"/>
            <a:chOff x="0" y="0"/>
            <a:chExt cx="3775489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75489" cy="2167467"/>
            </a:xfrm>
            <a:custGeom>
              <a:avLst/>
              <a:gdLst/>
              <a:ahLst/>
              <a:cxnLst/>
              <a:rect r="r" b="b" t="t" l="l"/>
              <a:pathLst>
                <a:path h="2167467" w="3775489">
                  <a:moveTo>
                    <a:pt x="27544" y="0"/>
                  </a:moveTo>
                  <a:lnTo>
                    <a:pt x="3747946" y="0"/>
                  </a:lnTo>
                  <a:cubicBezTo>
                    <a:pt x="3755251" y="0"/>
                    <a:pt x="3762257" y="2902"/>
                    <a:pt x="3767422" y="8067"/>
                  </a:cubicBezTo>
                  <a:cubicBezTo>
                    <a:pt x="3772588" y="13233"/>
                    <a:pt x="3775489" y="20239"/>
                    <a:pt x="3775489" y="27544"/>
                  </a:cubicBezTo>
                  <a:lnTo>
                    <a:pt x="3775489" y="2139923"/>
                  </a:lnTo>
                  <a:cubicBezTo>
                    <a:pt x="3775489" y="2147228"/>
                    <a:pt x="3772588" y="2154234"/>
                    <a:pt x="3767422" y="2159399"/>
                  </a:cubicBezTo>
                  <a:cubicBezTo>
                    <a:pt x="3762257" y="2164565"/>
                    <a:pt x="3755251" y="2167467"/>
                    <a:pt x="3747946" y="2167467"/>
                  </a:cubicBezTo>
                  <a:lnTo>
                    <a:pt x="27544" y="2167467"/>
                  </a:lnTo>
                  <a:cubicBezTo>
                    <a:pt x="20239" y="2167467"/>
                    <a:pt x="13233" y="2164565"/>
                    <a:pt x="8067" y="2159399"/>
                  </a:cubicBezTo>
                  <a:cubicBezTo>
                    <a:pt x="2902" y="2154234"/>
                    <a:pt x="0" y="2147228"/>
                    <a:pt x="0" y="2139923"/>
                  </a:cubicBezTo>
                  <a:lnTo>
                    <a:pt x="0" y="27544"/>
                  </a:lnTo>
                  <a:cubicBezTo>
                    <a:pt x="0" y="20239"/>
                    <a:pt x="2902" y="13233"/>
                    <a:pt x="8067" y="8067"/>
                  </a:cubicBezTo>
                  <a:cubicBezTo>
                    <a:pt x="13233" y="2902"/>
                    <a:pt x="20239" y="0"/>
                    <a:pt x="27544" y="0"/>
                  </a:cubicBezTo>
                  <a:close/>
                </a:path>
              </a:pathLst>
            </a:custGeom>
            <a:solidFill>
              <a:srgbClr val="925F64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75489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18470" y="1301006"/>
            <a:ext cx="13820706" cy="7684988"/>
            <a:chOff x="0" y="0"/>
            <a:chExt cx="3640021" cy="20240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40021" cy="2024030"/>
            </a:xfrm>
            <a:custGeom>
              <a:avLst/>
              <a:gdLst/>
              <a:ahLst/>
              <a:cxnLst/>
              <a:rect r="r" b="b" t="t" l="l"/>
              <a:pathLst>
                <a:path h="2024030" w="3640021">
                  <a:moveTo>
                    <a:pt x="28569" y="0"/>
                  </a:moveTo>
                  <a:lnTo>
                    <a:pt x="3611453" y="0"/>
                  </a:lnTo>
                  <a:cubicBezTo>
                    <a:pt x="3619029" y="0"/>
                    <a:pt x="3626296" y="3010"/>
                    <a:pt x="3631654" y="8368"/>
                  </a:cubicBezTo>
                  <a:cubicBezTo>
                    <a:pt x="3637011" y="13725"/>
                    <a:pt x="3640021" y="20992"/>
                    <a:pt x="3640021" y="28569"/>
                  </a:cubicBezTo>
                  <a:lnTo>
                    <a:pt x="3640021" y="1995461"/>
                  </a:lnTo>
                  <a:cubicBezTo>
                    <a:pt x="3640021" y="2003038"/>
                    <a:pt x="3637011" y="2010305"/>
                    <a:pt x="3631654" y="2015662"/>
                  </a:cubicBezTo>
                  <a:cubicBezTo>
                    <a:pt x="3626296" y="2021020"/>
                    <a:pt x="3619029" y="2024030"/>
                    <a:pt x="3611453" y="2024030"/>
                  </a:cubicBezTo>
                  <a:lnTo>
                    <a:pt x="28569" y="2024030"/>
                  </a:lnTo>
                  <a:cubicBezTo>
                    <a:pt x="20992" y="2024030"/>
                    <a:pt x="13725" y="2021020"/>
                    <a:pt x="8368" y="2015662"/>
                  </a:cubicBezTo>
                  <a:cubicBezTo>
                    <a:pt x="3010" y="2010305"/>
                    <a:pt x="0" y="2003038"/>
                    <a:pt x="0" y="1995461"/>
                  </a:cubicBezTo>
                  <a:lnTo>
                    <a:pt x="0" y="28569"/>
                  </a:lnTo>
                  <a:cubicBezTo>
                    <a:pt x="0" y="20992"/>
                    <a:pt x="3010" y="13725"/>
                    <a:pt x="8368" y="8368"/>
                  </a:cubicBezTo>
                  <a:cubicBezTo>
                    <a:pt x="13725" y="3010"/>
                    <a:pt x="20992" y="0"/>
                    <a:pt x="2856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19100" cap="rnd">
              <a:solidFill>
                <a:srgbClr val="E9BB6D"/>
              </a:solidFill>
              <a:prstDash val="sysDot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40021" cy="2062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67860" y="1948449"/>
            <a:ext cx="12552280" cy="6390101"/>
            <a:chOff x="0" y="0"/>
            <a:chExt cx="3305950" cy="1682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5950" cy="1682990"/>
            </a:xfrm>
            <a:custGeom>
              <a:avLst/>
              <a:gdLst/>
              <a:ahLst/>
              <a:cxnLst/>
              <a:rect r="r" b="b" t="t" l="l"/>
              <a:pathLst>
                <a:path h="1682990" w="3305950">
                  <a:moveTo>
                    <a:pt x="31455" y="0"/>
                  </a:moveTo>
                  <a:lnTo>
                    <a:pt x="3274495" y="0"/>
                  </a:lnTo>
                  <a:cubicBezTo>
                    <a:pt x="3282837" y="0"/>
                    <a:pt x="3290838" y="3314"/>
                    <a:pt x="3296737" y="9213"/>
                  </a:cubicBezTo>
                  <a:cubicBezTo>
                    <a:pt x="3302636" y="15112"/>
                    <a:pt x="3305950" y="23113"/>
                    <a:pt x="3305950" y="31455"/>
                  </a:cubicBezTo>
                  <a:lnTo>
                    <a:pt x="3305950" y="1651534"/>
                  </a:lnTo>
                  <a:cubicBezTo>
                    <a:pt x="3305950" y="1668907"/>
                    <a:pt x="3291867" y="1682990"/>
                    <a:pt x="3274495" y="1682990"/>
                  </a:cubicBezTo>
                  <a:lnTo>
                    <a:pt x="31455" y="1682990"/>
                  </a:lnTo>
                  <a:cubicBezTo>
                    <a:pt x="23113" y="1682990"/>
                    <a:pt x="15112" y="1679676"/>
                    <a:pt x="9213" y="1673777"/>
                  </a:cubicBezTo>
                  <a:cubicBezTo>
                    <a:pt x="3314" y="1667878"/>
                    <a:pt x="0" y="1659877"/>
                    <a:pt x="0" y="1651534"/>
                  </a:cubicBezTo>
                  <a:lnTo>
                    <a:pt x="0" y="31455"/>
                  </a:lnTo>
                  <a:cubicBezTo>
                    <a:pt x="0" y="23113"/>
                    <a:pt x="3314" y="15112"/>
                    <a:pt x="9213" y="9213"/>
                  </a:cubicBezTo>
                  <a:cubicBezTo>
                    <a:pt x="15112" y="3314"/>
                    <a:pt x="23113" y="0"/>
                    <a:pt x="31455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05950" cy="1721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329632" y="5417525"/>
            <a:ext cx="4181015" cy="4343912"/>
          </a:xfrm>
          <a:custGeom>
            <a:avLst/>
            <a:gdLst/>
            <a:ahLst/>
            <a:cxnLst/>
            <a:rect r="r" b="b" t="t" l="l"/>
            <a:pathLst>
              <a:path h="4343912" w="4181015">
                <a:moveTo>
                  <a:pt x="0" y="0"/>
                </a:moveTo>
                <a:lnTo>
                  <a:pt x="4181015" y="0"/>
                </a:lnTo>
                <a:lnTo>
                  <a:pt x="4181015" y="4343912"/>
                </a:lnTo>
                <a:lnTo>
                  <a:pt x="0" y="4343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113115" y="4892096"/>
            <a:ext cx="10061771" cy="209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9"/>
              </a:lnSpc>
            </a:pPr>
            <a:r>
              <a:rPr lang="en-US" sz="14961">
                <a:solidFill>
                  <a:srgbClr val="E9BB6D"/>
                </a:solidFill>
                <a:latin typeface="Boulder"/>
                <a:ea typeface="Boulder"/>
                <a:cs typeface="Boulder"/>
                <a:sym typeface="Boulder"/>
              </a:rPr>
              <a:t>FOLOSITE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31270" y="3031587"/>
            <a:ext cx="8025460" cy="238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83"/>
              </a:lnSpc>
            </a:pPr>
            <a:r>
              <a:rPr lang="en-US" sz="13916">
                <a:solidFill>
                  <a:srgbClr val="F8E8C6"/>
                </a:solidFill>
                <a:latin typeface="Hibernate"/>
                <a:ea typeface="Hibernate"/>
                <a:cs typeface="Hibernate"/>
                <a:sym typeface="Hibernate"/>
              </a:rPr>
              <a:t>MODELE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109922"/>
            <a:ext cx="7820158" cy="6148378"/>
            <a:chOff x="0" y="0"/>
            <a:chExt cx="2059630" cy="16193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9630" cy="1619326"/>
            </a:xfrm>
            <a:custGeom>
              <a:avLst/>
              <a:gdLst/>
              <a:ahLst/>
              <a:cxnLst/>
              <a:rect r="r" b="b" t="t" l="l"/>
              <a:pathLst>
                <a:path h="1619326" w="2059630">
                  <a:moveTo>
                    <a:pt x="50490" y="0"/>
                  </a:moveTo>
                  <a:lnTo>
                    <a:pt x="2009140" y="0"/>
                  </a:lnTo>
                  <a:cubicBezTo>
                    <a:pt x="2037025" y="0"/>
                    <a:pt x="2059630" y="22605"/>
                    <a:pt x="2059630" y="50490"/>
                  </a:cubicBezTo>
                  <a:lnTo>
                    <a:pt x="2059630" y="1568836"/>
                  </a:lnTo>
                  <a:cubicBezTo>
                    <a:pt x="2059630" y="1582227"/>
                    <a:pt x="2054311" y="1595069"/>
                    <a:pt x="2044842" y="1604538"/>
                  </a:cubicBezTo>
                  <a:cubicBezTo>
                    <a:pt x="2035373" y="1614006"/>
                    <a:pt x="2022531" y="1619326"/>
                    <a:pt x="2009140" y="1619326"/>
                  </a:cubicBezTo>
                  <a:lnTo>
                    <a:pt x="50490" y="1619326"/>
                  </a:lnTo>
                  <a:cubicBezTo>
                    <a:pt x="37099" y="1619326"/>
                    <a:pt x="24257" y="1614006"/>
                    <a:pt x="14788" y="1604538"/>
                  </a:cubicBezTo>
                  <a:cubicBezTo>
                    <a:pt x="5319" y="1595069"/>
                    <a:pt x="0" y="1582227"/>
                    <a:pt x="0" y="1568836"/>
                  </a:cubicBezTo>
                  <a:lnTo>
                    <a:pt x="0" y="50490"/>
                  </a:lnTo>
                  <a:cubicBezTo>
                    <a:pt x="0" y="37099"/>
                    <a:pt x="5319" y="24257"/>
                    <a:pt x="14788" y="14788"/>
                  </a:cubicBezTo>
                  <a:cubicBezTo>
                    <a:pt x="24257" y="5319"/>
                    <a:pt x="37099" y="0"/>
                    <a:pt x="50490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59630" cy="1657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39142" y="3109922"/>
            <a:ext cx="7820158" cy="6148378"/>
            <a:chOff x="0" y="0"/>
            <a:chExt cx="2059630" cy="16193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9630" cy="1619326"/>
            </a:xfrm>
            <a:custGeom>
              <a:avLst/>
              <a:gdLst/>
              <a:ahLst/>
              <a:cxnLst/>
              <a:rect r="r" b="b" t="t" l="l"/>
              <a:pathLst>
                <a:path h="1619326" w="2059630">
                  <a:moveTo>
                    <a:pt x="50490" y="0"/>
                  </a:moveTo>
                  <a:lnTo>
                    <a:pt x="2009140" y="0"/>
                  </a:lnTo>
                  <a:cubicBezTo>
                    <a:pt x="2037025" y="0"/>
                    <a:pt x="2059630" y="22605"/>
                    <a:pt x="2059630" y="50490"/>
                  </a:cubicBezTo>
                  <a:lnTo>
                    <a:pt x="2059630" y="1568836"/>
                  </a:lnTo>
                  <a:cubicBezTo>
                    <a:pt x="2059630" y="1582227"/>
                    <a:pt x="2054311" y="1595069"/>
                    <a:pt x="2044842" y="1604538"/>
                  </a:cubicBezTo>
                  <a:cubicBezTo>
                    <a:pt x="2035373" y="1614006"/>
                    <a:pt x="2022531" y="1619326"/>
                    <a:pt x="2009140" y="1619326"/>
                  </a:cubicBezTo>
                  <a:lnTo>
                    <a:pt x="50490" y="1619326"/>
                  </a:lnTo>
                  <a:cubicBezTo>
                    <a:pt x="37099" y="1619326"/>
                    <a:pt x="24257" y="1614006"/>
                    <a:pt x="14788" y="1604538"/>
                  </a:cubicBezTo>
                  <a:cubicBezTo>
                    <a:pt x="5319" y="1595069"/>
                    <a:pt x="0" y="1582227"/>
                    <a:pt x="0" y="1568836"/>
                  </a:cubicBezTo>
                  <a:lnTo>
                    <a:pt x="0" y="50490"/>
                  </a:lnTo>
                  <a:cubicBezTo>
                    <a:pt x="0" y="37099"/>
                    <a:pt x="5319" y="24257"/>
                    <a:pt x="14788" y="14788"/>
                  </a:cubicBezTo>
                  <a:cubicBezTo>
                    <a:pt x="24257" y="5319"/>
                    <a:pt x="37099" y="0"/>
                    <a:pt x="50490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59630" cy="1657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218437" y="1123950"/>
            <a:ext cx="11851125" cy="11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MODELE FOLOSITE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36650" y="3687665"/>
            <a:ext cx="680425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REGRESIE LINIARA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23692" y="3687665"/>
            <a:ext cx="705105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RANDOM FOREST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481253" y="2652396"/>
            <a:ext cx="915052" cy="915052"/>
            <a:chOff x="0" y="0"/>
            <a:chExt cx="1220069" cy="122006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220069" cy="122006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272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86480" y="66675"/>
              <a:ext cx="447110" cy="1060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1"/>
                </a:lnSpc>
              </a:pPr>
              <a:r>
                <a:rPr lang="en-US" sz="5571">
                  <a:solidFill>
                    <a:srgbClr val="F4C366"/>
                  </a:solidFill>
                  <a:latin typeface="Boulder"/>
                  <a:ea typeface="Boulder"/>
                  <a:cs typeface="Boulder"/>
                  <a:sym typeface="Boulder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91695" y="2652396"/>
            <a:ext cx="915052" cy="915052"/>
            <a:chOff x="0" y="0"/>
            <a:chExt cx="1220069" cy="122006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220069" cy="1220069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272D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10248" y="66675"/>
              <a:ext cx="599574" cy="1060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1"/>
                </a:lnSpc>
              </a:pPr>
              <a:r>
                <a:rPr lang="en-US" sz="5571">
                  <a:solidFill>
                    <a:srgbClr val="F4C366"/>
                  </a:solidFill>
                  <a:latin typeface="Boulder"/>
                  <a:ea typeface="Boulder"/>
                  <a:cs typeface="Boulder"/>
                  <a:sym typeface="Boulder"/>
                </a:rPr>
                <a:t>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36650" y="4427440"/>
            <a:ext cx="6804257" cy="492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utila pentru a putea stabili un baseline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incearca sa gasesca o relatie liniara intreuna sau mai multe variabile 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foarte simpla si rapida de folosit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lucreaza doar cu date numerice 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NU</a:t>
            </a: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 capteaza relatii complexe intre variabile </a:t>
            </a: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</a:p>
          <a:p>
            <a:pPr algn="l">
              <a:lnSpc>
                <a:spcPts val="392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070492" y="3706715"/>
            <a:ext cx="6804257" cy="542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rezistent la overfitting  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functioneaza bine cu date zgomotoase  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foloseste date categorice cat si numerice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“sorteaza ” atributele dupa importanta lor 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mai greu de interpretat si mai slab decat un alg de boosting  </a:t>
            </a: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</a:p>
          <a:p>
            <a:pPr algn="l">
              <a:lnSpc>
                <a:spcPts val="392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39142" y="3272703"/>
            <a:ext cx="7820158" cy="6417232"/>
            <a:chOff x="0" y="0"/>
            <a:chExt cx="2059630" cy="1690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9630" cy="1690135"/>
            </a:xfrm>
            <a:custGeom>
              <a:avLst/>
              <a:gdLst/>
              <a:ahLst/>
              <a:cxnLst/>
              <a:rect r="r" b="b" t="t" l="l"/>
              <a:pathLst>
                <a:path h="1690135" w="2059630">
                  <a:moveTo>
                    <a:pt x="50490" y="0"/>
                  </a:moveTo>
                  <a:lnTo>
                    <a:pt x="2009140" y="0"/>
                  </a:lnTo>
                  <a:cubicBezTo>
                    <a:pt x="2037025" y="0"/>
                    <a:pt x="2059630" y="22605"/>
                    <a:pt x="2059630" y="50490"/>
                  </a:cubicBezTo>
                  <a:lnTo>
                    <a:pt x="2059630" y="1639645"/>
                  </a:lnTo>
                  <a:cubicBezTo>
                    <a:pt x="2059630" y="1653036"/>
                    <a:pt x="2054311" y="1665878"/>
                    <a:pt x="2044842" y="1675347"/>
                  </a:cubicBezTo>
                  <a:cubicBezTo>
                    <a:pt x="2035373" y="1684816"/>
                    <a:pt x="2022531" y="1690135"/>
                    <a:pt x="2009140" y="1690135"/>
                  </a:cubicBezTo>
                  <a:lnTo>
                    <a:pt x="50490" y="1690135"/>
                  </a:lnTo>
                  <a:cubicBezTo>
                    <a:pt x="37099" y="1690135"/>
                    <a:pt x="24257" y="1684816"/>
                    <a:pt x="14788" y="1675347"/>
                  </a:cubicBezTo>
                  <a:cubicBezTo>
                    <a:pt x="5319" y="1665878"/>
                    <a:pt x="0" y="1653036"/>
                    <a:pt x="0" y="1639645"/>
                  </a:cubicBezTo>
                  <a:lnTo>
                    <a:pt x="0" y="50490"/>
                  </a:lnTo>
                  <a:cubicBezTo>
                    <a:pt x="0" y="37099"/>
                    <a:pt x="5319" y="24257"/>
                    <a:pt x="14788" y="14788"/>
                  </a:cubicBezTo>
                  <a:cubicBezTo>
                    <a:pt x="24257" y="5319"/>
                    <a:pt x="37099" y="0"/>
                    <a:pt x="50490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59630" cy="1728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272703"/>
            <a:ext cx="7820158" cy="6417232"/>
            <a:chOff x="0" y="0"/>
            <a:chExt cx="2059630" cy="16901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9630" cy="1690135"/>
            </a:xfrm>
            <a:custGeom>
              <a:avLst/>
              <a:gdLst/>
              <a:ahLst/>
              <a:cxnLst/>
              <a:rect r="r" b="b" t="t" l="l"/>
              <a:pathLst>
                <a:path h="1690135" w="2059630">
                  <a:moveTo>
                    <a:pt x="50490" y="0"/>
                  </a:moveTo>
                  <a:lnTo>
                    <a:pt x="2009140" y="0"/>
                  </a:lnTo>
                  <a:cubicBezTo>
                    <a:pt x="2037025" y="0"/>
                    <a:pt x="2059630" y="22605"/>
                    <a:pt x="2059630" y="50490"/>
                  </a:cubicBezTo>
                  <a:lnTo>
                    <a:pt x="2059630" y="1639645"/>
                  </a:lnTo>
                  <a:cubicBezTo>
                    <a:pt x="2059630" y="1653036"/>
                    <a:pt x="2054311" y="1665878"/>
                    <a:pt x="2044842" y="1675347"/>
                  </a:cubicBezTo>
                  <a:cubicBezTo>
                    <a:pt x="2035373" y="1684816"/>
                    <a:pt x="2022531" y="1690135"/>
                    <a:pt x="2009140" y="1690135"/>
                  </a:cubicBezTo>
                  <a:lnTo>
                    <a:pt x="50490" y="1690135"/>
                  </a:lnTo>
                  <a:cubicBezTo>
                    <a:pt x="37099" y="1690135"/>
                    <a:pt x="24257" y="1684816"/>
                    <a:pt x="14788" y="1675347"/>
                  </a:cubicBezTo>
                  <a:cubicBezTo>
                    <a:pt x="5319" y="1665878"/>
                    <a:pt x="0" y="1653036"/>
                    <a:pt x="0" y="1639645"/>
                  </a:cubicBezTo>
                  <a:lnTo>
                    <a:pt x="0" y="50490"/>
                  </a:lnTo>
                  <a:cubicBezTo>
                    <a:pt x="0" y="37099"/>
                    <a:pt x="5319" y="24257"/>
                    <a:pt x="14788" y="14788"/>
                  </a:cubicBezTo>
                  <a:cubicBezTo>
                    <a:pt x="24257" y="5319"/>
                    <a:pt x="37099" y="0"/>
                    <a:pt x="50490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59630" cy="1728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218437" y="1123950"/>
            <a:ext cx="11851125" cy="11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MODELE FOLOSITE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47092" y="3930254"/>
            <a:ext cx="680425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CATBOOST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3250" y="3930254"/>
            <a:ext cx="705105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RETELE NEURALE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481253" y="2696684"/>
            <a:ext cx="915052" cy="915052"/>
            <a:chOff x="0" y="0"/>
            <a:chExt cx="1220069" cy="122006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220069" cy="122006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272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11188" y="66675"/>
              <a:ext cx="597694" cy="1060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1"/>
                </a:lnSpc>
              </a:pPr>
              <a:r>
                <a:rPr lang="en-US" sz="5571">
                  <a:solidFill>
                    <a:srgbClr val="F4C366"/>
                  </a:solidFill>
                  <a:latin typeface="Boulder"/>
                  <a:ea typeface="Boulder"/>
                  <a:cs typeface="Boulder"/>
                  <a:sym typeface="Boulder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91695" y="2815177"/>
            <a:ext cx="915052" cy="915052"/>
            <a:chOff x="0" y="0"/>
            <a:chExt cx="1220069" cy="122006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220069" cy="1220069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272D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79678" y="66675"/>
              <a:ext cx="660714" cy="1060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61"/>
                </a:lnSpc>
              </a:pPr>
              <a:r>
                <a:rPr lang="en-US" sz="5571">
                  <a:solidFill>
                    <a:srgbClr val="F4C366"/>
                  </a:solidFill>
                  <a:latin typeface="Boulder"/>
                  <a:ea typeface="Boulder"/>
                  <a:cs typeface="Boulder"/>
                  <a:sym typeface="Boulder"/>
                </a:rPr>
                <a:t>4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60051" y="4011786"/>
            <a:ext cx="6804257" cy="542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folosest date numerice </a:t>
            </a: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am folosit frequncy encoding pentru a transforma date categorice in numerice 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usor de folosit, adaptarea retelei, numarul de straturi, pentru problema data 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retea cu 5 straturi (128, 32, 16,8, 1), functie de activare “tanh”</a:t>
            </a:r>
          </a:p>
          <a:p>
            <a:pPr algn="l">
              <a:lnSpc>
                <a:spcPts val="392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9947092" y="3833495"/>
            <a:ext cx="6804257" cy="542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algoritm de boosting bazat pe arbori de decizie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utlizeaza atat date categorice cat si numerice  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foloseste ordered boosting, astfel reduce overfitting ul 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performanta foarte buna initiala fara hypertuning al hiperparametrilor 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mai stabil decat alti alg de boosting </a:t>
            </a:r>
          </a:p>
          <a:p>
            <a:pPr algn="l">
              <a:lnSpc>
                <a:spcPts val="392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6469" y="1028700"/>
            <a:ext cx="14335062" cy="8229600"/>
            <a:chOff x="0" y="0"/>
            <a:chExt cx="3775489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75489" cy="2167467"/>
            </a:xfrm>
            <a:custGeom>
              <a:avLst/>
              <a:gdLst/>
              <a:ahLst/>
              <a:cxnLst/>
              <a:rect r="r" b="b" t="t" l="l"/>
              <a:pathLst>
                <a:path h="2167467" w="3775489">
                  <a:moveTo>
                    <a:pt x="27544" y="0"/>
                  </a:moveTo>
                  <a:lnTo>
                    <a:pt x="3747946" y="0"/>
                  </a:lnTo>
                  <a:cubicBezTo>
                    <a:pt x="3755251" y="0"/>
                    <a:pt x="3762257" y="2902"/>
                    <a:pt x="3767422" y="8067"/>
                  </a:cubicBezTo>
                  <a:cubicBezTo>
                    <a:pt x="3772588" y="13233"/>
                    <a:pt x="3775489" y="20239"/>
                    <a:pt x="3775489" y="27544"/>
                  </a:cubicBezTo>
                  <a:lnTo>
                    <a:pt x="3775489" y="2139923"/>
                  </a:lnTo>
                  <a:cubicBezTo>
                    <a:pt x="3775489" y="2147228"/>
                    <a:pt x="3772588" y="2154234"/>
                    <a:pt x="3767422" y="2159399"/>
                  </a:cubicBezTo>
                  <a:cubicBezTo>
                    <a:pt x="3762257" y="2164565"/>
                    <a:pt x="3755251" y="2167467"/>
                    <a:pt x="3747946" y="2167467"/>
                  </a:cubicBezTo>
                  <a:lnTo>
                    <a:pt x="27544" y="2167467"/>
                  </a:lnTo>
                  <a:cubicBezTo>
                    <a:pt x="20239" y="2167467"/>
                    <a:pt x="13233" y="2164565"/>
                    <a:pt x="8067" y="2159399"/>
                  </a:cubicBezTo>
                  <a:cubicBezTo>
                    <a:pt x="2902" y="2154234"/>
                    <a:pt x="0" y="2147228"/>
                    <a:pt x="0" y="2139923"/>
                  </a:cubicBezTo>
                  <a:lnTo>
                    <a:pt x="0" y="27544"/>
                  </a:lnTo>
                  <a:cubicBezTo>
                    <a:pt x="0" y="20239"/>
                    <a:pt x="2902" y="13233"/>
                    <a:pt x="8067" y="8067"/>
                  </a:cubicBezTo>
                  <a:cubicBezTo>
                    <a:pt x="13233" y="2902"/>
                    <a:pt x="20239" y="0"/>
                    <a:pt x="27544" y="0"/>
                  </a:cubicBezTo>
                  <a:close/>
                </a:path>
              </a:pathLst>
            </a:custGeom>
            <a:solidFill>
              <a:srgbClr val="925F64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75489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18470" y="1301006"/>
            <a:ext cx="13820706" cy="7684988"/>
            <a:chOff x="0" y="0"/>
            <a:chExt cx="3640021" cy="20240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40021" cy="2024030"/>
            </a:xfrm>
            <a:custGeom>
              <a:avLst/>
              <a:gdLst/>
              <a:ahLst/>
              <a:cxnLst/>
              <a:rect r="r" b="b" t="t" l="l"/>
              <a:pathLst>
                <a:path h="2024030" w="3640021">
                  <a:moveTo>
                    <a:pt x="28569" y="0"/>
                  </a:moveTo>
                  <a:lnTo>
                    <a:pt x="3611453" y="0"/>
                  </a:lnTo>
                  <a:cubicBezTo>
                    <a:pt x="3619029" y="0"/>
                    <a:pt x="3626296" y="3010"/>
                    <a:pt x="3631654" y="8368"/>
                  </a:cubicBezTo>
                  <a:cubicBezTo>
                    <a:pt x="3637011" y="13725"/>
                    <a:pt x="3640021" y="20992"/>
                    <a:pt x="3640021" y="28569"/>
                  </a:cubicBezTo>
                  <a:lnTo>
                    <a:pt x="3640021" y="1995461"/>
                  </a:lnTo>
                  <a:cubicBezTo>
                    <a:pt x="3640021" y="2003038"/>
                    <a:pt x="3637011" y="2010305"/>
                    <a:pt x="3631654" y="2015662"/>
                  </a:cubicBezTo>
                  <a:cubicBezTo>
                    <a:pt x="3626296" y="2021020"/>
                    <a:pt x="3619029" y="2024030"/>
                    <a:pt x="3611453" y="2024030"/>
                  </a:cubicBezTo>
                  <a:lnTo>
                    <a:pt x="28569" y="2024030"/>
                  </a:lnTo>
                  <a:cubicBezTo>
                    <a:pt x="20992" y="2024030"/>
                    <a:pt x="13725" y="2021020"/>
                    <a:pt x="8368" y="2015662"/>
                  </a:cubicBezTo>
                  <a:cubicBezTo>
                    <a:pt x="3010" y="2010305"/>
                    <a:pt x="0" y="2003038"/>
                    <a:pt x="0" y="1995461"/>
                  </a:cubicBezTo>
                  <a:lnTo>
                    <a:pt x="0" y="28569"/>
                  </a:lnTo>
                  <a:cubicBezTo>
                    <a:pt x="0" y="20992"/>
                    <a:pt x="3010" y="13725"/>
                    <a:pt x="8368" y="8368"/>
                  </a:cubicBezTo>
                  <a:cubicBezTo>
                    <a:pt x="13725" y="3010"/>
                    <a:pt x="20992" y="0"/>
                    <a:pt x="2856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19100" cap="rnd">
              <a:solidFill>
                <a:srgbClr val="E9BB6D"/>
              </a:solidFill>
              <a:prstDash val="sysDot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40021" cy="2062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67860" y="1948449"/>
            <a:ext cx="12552280" cy="6390101"/>
            <a:chOff x="0" y="0"/>
            <a:chExt cx="3305950" cy="1682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5950" cy="1682990"/>
            </a:xfrm>
            <a:custGeom>
              <a:avLst/>
              <a:gdLst/>
              <a:ahLst/>
              <a:cxnLst/>
              <a:rect r="r" b="b" t="t" l="l"/>
              <a:pathLst>
                <a:path h="1682990" w="3305950">
                  <a:moveTo>
                    <a:pt x="31455" y="0"/>
                  </a:moveTo>
                  <a:lnTo>
                    <a:pt x="3274495" y="0"/>
                  </a:lnTo>
                  <a:cubicBezTo>
                    <a:pt x="3282837" y="0"/>
                    <a:pt x="3290838" y="3314"/>
                    <a:pt x="3296737" y="9213"/>
                  </a:cubicBezTo>
                  <a:cubicBezTo>
                    <a:pt x="3302636" y="15112"/>
                    <a:pt x="3305950" y="23113"/>
                    <a:pt x="3305950" y="31455"/>
                  </a:cubicBezTo>
                  <a:lnTo>
                    <a:pt x="3305950" y="1651534"/>
                  </a:lnTo>
                  <a:cubicBezTo>
                    <a:pt x="3305950" y="1668907"/>
                    <a:pt x="3291867" y="1682990"/>
                    <a:pt x="3274495" y="1682990"/>
                  </a:cubicBezTo>
                  <a:lnTo>
                    <a:pt x="31455" y="1682990"/>
                  </a:lnTo>
                  <a:cubicBezTo>
                    <a:pt x="23113" y="1682990"/>
                    <a:pt x="15112" y="1679676"/>
                    <a:pt x="9213" y="1673777"/>
                  </a:cubicBezTo>
                  <a:cubicBezTo>
                    <a:pt x="3314" y="1667878"/>
                    <a:pt x="0" y="1659877"/>
                    <a:pt x="0" y="1651534"/>
                  </a:cubicBezTo>
                  <a:lnTo>
                    <a:pt x="0" y="31455"/>
                  </a:lnTo>
                  <a:cubicBezTo>
                    <a:pt x="0" y="23113"/>
                    <a:pt x="3314" y="15112"/>
                    <a:pt x="9213" y="9213"/>
                  </a:cubicBezTo>
                  <a:cubicBezTo>
                    <a:pt x="15112" y="3314"/>
                    <a:pt x="23113" y="0"/>
                    <a:pt x="31455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05950" cy="1721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373309" y="3876809"/>
            <a:ext cx="9541382" cy="209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9"/>
              </a:lnSpc>
            </a:pPr>
            <a:r>
              <a:rPr lang="en-US" sz="14961">
                <a:solidFill>
                  <a:srgbClr val="E9BB6D"/>
                </a:solidFill>
                <a:latin typeface="Boulder"/>
                <a:ea typeface="Boulder"/>
                <a:cs typeface="Boulder"/>
                <a:sym typeface="Boulder"/>
              </a:rPr>
              <a:t>DATELOR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07889" y="2016299"/>
            <a:ext cx="6072222" cy="238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83"/>
              </a:lnSpc>
            </a:pPr>
            <a:r>
              <a:rPr lang="en-US" sz="13916">
                <a:solidFill>
                  <a:srgbClr val="F8E8C6"/>
                </a:solidFill>
                <a:latin typeface="Hibernate"/>
                <a:ea typeface="Hibernate"/>
                <a:cs typeface="Hibernate"/>
                <a:sym typeface="Hibernate"/>
              </a:rPr>
              <a:t>ANALIZA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01819" y="5143500"/>
            <a:ext cx="3866446" cy="4773390"/>
          </a:xfrm>
          <a:custGeom>
            <a:avLst/>
            <a:gdLst/>
            <a:ahLst/>
            <a:cxnLst/>
            <a:rect r="r" b="b" t="t" l="l"/>
            <a:pathLst>
              <a:path h="4773390" w="3866446">
                <a:moveTo>
                  <a:pt x="0" y="0"/>
                </a:moveTo>
                <a:lnTo>
                  <a:pt x="3866445" y="0"/>
                </a:lnTo>
                <a:lnTo>
                  <a:pt x="3866445" y="4773390"/>
                </a:lnTo>
                <a:lnTo>
                  <a:pt x="0" y="4773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7890" y="2565250"/>
            <a:ext cx="13963930" cy="6693050"/>
            <a:chOff x="0" y="0"/>
            <a:chExt cx="3677743" cy="17627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7743" cy="1762779"/>
            </a:xfrm>
            <a:custGeom>
              <a:avLst/>
              <a:gdLst/>
              <a:ahLst/>
              <a:cxnLst/>
              <a:rect r="r" b="b" t="t" l="l"/>
              <a:pathLst>
                <a:path h="1762779" w="3677743">
                  <a:moveTo>
                    <a:pt x="28276" y="0"/>
                  </a:moveTo>
                  <a:lnTo>
                    <a:pt x="3649468" y="0"/>
                  </a:lnTo>
                  <a:cubicBezTo>
                    <a:pt x="3656967" y="0"/>
                    <a:pt x="3664159" y="2979"/>
                    <a:pt x="3669461" y="8282"/>
                  </a:cubicBezTo>
                  <a:cubicBezTo>
                    <a:pt x="3674764" y="13584"/>
                    <a:pt x="3677743" y="20776"/>
                    <a:pt x="3677743" y="28276"/>
                  </a:cubicBezTo>
                  <a:lnTo>
                    <a:pt x="3677743" y="1734503"/>
                  </a:lnTo>
                  <a:cubicBezTo>
                    <a:pt x="3677743" y="1742002"/>
                    <a:pt x="3674764" y="1749194"/>
                    <a:pt x="3669461" y="1754497"/>
                  </a:cubicBezTo>
                  <a:cubicBezTo>
                    <a:pt x="3664159" y="1759800"/>
                    <a:pt x="3656967" y="1762779"/>
                    <a:pt x="3649468" y="1762779"/>
                  </a:cubicBezTo>
                  <a:lnTo>
                    <a:pt x="28276" y="1762779"/>
                  </a:lnTo>
                  <a:cubicBezTo>
                    <a:pt x="20776" y="1762779"/>
                    <a:pt x="13584" y="1759800"/>
                    <a:pt x="8282" y="1754497"/>
                  </a:cubicBezTo>
                  <a:cubicBezTo>
                    <a:pt x="2979" y="1749194"/>
                    <a:pt x="0" y="1742002"/>
                    <a:pt x="0" y="1734503"/>
                  </a:cubicBezTo>
                  <a:lnTo>
                    <a:pt x="0" y="28276"/>
                  </a:lnTo>
                  <a:cubicBezTo>
                    <a:pt x="0" y="20776"/>
                    <a:pt x="2979" y="13584"/>
                    <a:pt x="8282" y="8282"/>
                  </a:cubicBezTo>
                  <a:cubicBezTo>
                    <a:pt x="13584" y="2979"/>
                    <a:pt x="20776" y="0"/>
                    <a:pt x="28276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77743" cy="1800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34411" y="3112135"/>
            <a:ext cx="698356" cy="6983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1601" lIns="21601" bIns="21601" rIns="21601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34411" y="4495724"/>
            <a:ext cx="698356" cy="6983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1601" lIns="21601" bIns="21601" rIns="21601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34411" y="5879880"/>
            <a:ext cx="698356" cy="69835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1601" lIns="21601" bIns="21601" rIns="21601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4813703" y="1952749"/>
            <a:ext cx="3114967" cy="8418830"/>
          </a:xfrm>
          <a:custGeom>
            <a:avLst/>
            <a:gdLst/>
            <a:ahLst/>
            <a:cxnLst/>
            <a:rect r="r" b="b" t="t" l="l"/>
            <a:pathLst>
              <a:path h="8418830" w="3114967">
                <a:moveTo>
                  <a:pt x="0" y="0"/>
                </a:moveTo>
                <a:lnTo>
                  <a:pt x="3114967" y="0"/>
                </a:lnTo>
                <a:lnTo>
                  <a:pt x="3114967" y="8418830"/>
                </a:lnTo>
                <a:lnTo>
                  <a:pt x="0" y="8418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778289" y="2744251"/>
            <a:ext cx="10714018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Initial am decis sa prezicem valoare de Gross Worldwide, inca aceasta avea o distributie de valori foarte mare → eroarea scaleaza in functie de distributia de valori ale atributului pe care vrem sa il prezicem </a:t>
            </a:r>
          </a:p>
          <a:p>
            <a:pPr algn="l">
              <a:lnSpc>
                <a:spcPts val="336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655629" y="3169285"/>
            <a:ext cx="255921" cy="58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4252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12532" y="4552874"/>
            <a:ext cx="343190" cy="58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4252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78289" y="4359691"/>
            <a:ext cx="11212709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Am decis astfel sa prezicem un atribut ROI, atribut pe care il calculam ca si Gross Worlwide / Budget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12532" y="5963543"/>
            <a:ext cx="342114" cy="58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4252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16226" y="5822730"/>
            <a:ext cx="10714018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 acest atribut a dovedid o distrubutie totusi foarte mare de valori asa ca am decis sa prezicem log(ROI)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0" y="613894"/>
            <a:ext cx="18288000" cy="11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ROI - ANALIZA ATRIBUTULUI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886" y="3877603"/>
            <a:ext cx="8406732" cy="5647690"/>
            <a:chOff x="0" y="0"/>
            <a:chExt cx="2214119" cy="14874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4119" cy="1487458"/>
            </a:xfrm>
            <a:custGeom>
              <a:avLst/>
              <a:gdLst/>
              <a:ahLst/>
              <a:cxnLst/>
              <a:rect r="r" b="b" t="t" l="l"/>
              <a:pathLst>
                <a:path h="1487458" w="2214119">
                  <a:moveTo>
                    <a:pt x="46967" y="0"/>
                  </a:moveTo>
                  <a:lnTo>
                    <a:pt x="2167152" y="0"/>
                  </a:lnTo>
                  <a:cubicBezTo>
                    <a:pt x="2193091" y="0"/>
                    <a:pt x="2214119" y="21028"/>
                    <a:pt x="2214119" y="46967"/>
                  </a:cubicBezTo>
                  <a:lnTo>
                    <a:pt x="2214119" y="1440491"/>
                  </a:lnTo>
                  <a:cubicBezTo>
                    <a:pt x="2214119" y="1452947"/>
                    <a:pt x="2209170" y="1464893"/>
                    <a:pt x="2200362" y="1473701"/>
                  </a:cubicBezTo>
                  <a:cubicBezTo>
                    <a:pt x="2191554" y="1482509"/>
                    <a:pt x="2179608" y="1487458"/>
                    <a:pt x="2167152" y="1487458"/>
                  </a:cubicBezTo>
                  <a:lnTo>
                    <a:pt x="46967" y="1487458"/>
                  </a:lnTo>
                  <a:cubicBezTo>
                    <a:pt x="21028" y="1487458"/>
                    <a:pt x="0" y="1466430"/>
                    <a:pt x="0" y="1440491"/>
                  </a:cubicBezTo>
                  <a:lnTo>
                    <a:pt x="0" y="46967"/>
                  </a:lnTo>
                  <a:cubicBezTo>
                    <a:pt x="0" y="34510"/>
                    <a:pt x="4948" y="22564"/>
                    <a:pt x="13756" y="13756"/>
                  </a:cubicBezTo>
                  <a:cubicBezTo>
                    <a:pt x="22564" y="4948"/>
                    <a:pt x="34510" y="0"/>
                    <a:pt x="46967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14119" cy="1525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06921" y="3247390"/>
            <a:ext cx="8287669" cy="6653847"/>
            <a:chOff x="0" y="0"/>
            <a:chExt cx="2182761" cy="1752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2761" cy="1752454"/>
            </a:xfrm>
            <a:custGeom>
              <a:avLst/>
              <a:gdLst/>
              <a:ahLst/>
              <a:cxnLst/>
              <a:rect r="r" b="b" t="t" l="l"/>
              <a:pathLst>
                <a:path h="1752454" w="2182761">
                  <a:moveTo>
                    <a:pt x="47642" y="0"/>
                  </a:moveTo>
                  <a:lnTo>
                    <a:pt x="2135119" y="0"/>
                  </a:lnTo>
                  <a:cubicBezTo>
                    <a:pt x="2161431" y="0"/>
                    <a:pt x="2182761" y="21330"/>
                    <a:pt x="2182761" y="47642"/>
                  </a:cubicBezTo>
                  <a:lnTo>
                    <a:pt x="2182761" y="1704812"/>
                  </a:lnTo>
                  <a:cubicBezTo>
                    <a:pt x="2182761" y="1731124"/>
                    <a:pt x="2161431" y="1752454"/>
                    <a:pt x="2135119" y="1752454"/>
                  </a:cubicBezTo>
                  <a:lnTo>
                    <a:pt x="47642" y="1752454"/>
                  </a:lnTo>
                  <a:cubicBezTo>
                    <a:pt x="21330" y="1752454"/>
                    <a:pt x="0" y="1731124"/>
                    <a:pt x="0" y="1704812"/>
                  </a:cubicBezTo>
                  <a:lnTo>
                    <a:pt x="0" y="47642"/>
                  </a:lnTo>
                  <a:cubicBezTo>
                    <a:pt x="0" y="21330"/>
                    <a:pt x="21330" y="0"/>
                    <a:pt x="47642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82761" cy="1790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7322668">
            <a:off x="15009063" y="-274377"/>
            <a:ext cx="3284676" cy="3412650"/>
          </a:xfrm>
          <a:custGeom>
            <a:avLst/>
            <a:gdLst/>
            <a:ahLst/>
            <a:cxnLst/>
            <a:rect r="r" b="b" t="t" l="l"/>
            <a:pathLst>
              <a:path h="3412650" w="3284676">
                <a:moveTo>
                  <a:pt x="0" y="0"/>
                </a:moveTo>
                <a:lnTo>
                  <a:pt x="3284676" y="0"/>
                </a:lnTo>
                <a:lnTo>
                  <a:pt x="3284676" y="3412650"/>
                </a:lnTo>
                <a:lnTo>
                  <a:pt x="0" y="34126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7320000">
            <a:off x="-6118" y="-274824"/>
            <a:ext cx="3284676" cy="3412650"/>
          </a:xfrm>
          <a:custGeom>
            <a:avLst/>
            <a:gdLst/>
            <a:ahLst/>
            <a:cxnLst/>
            <a:rect r="r" b="b" t="t" l="l"/>
            <a:pathLst>
              <a:path h="3412650" w="3284676">
                <a:moveTo>
                  <a:pt x="3284676" y="0"/>
                </a:moveTo>
                <a:lnTo>
                  <a:pt x="0" y="0"/>
                </a:lnTo>
                <a:lnTo>
                  <a:pt x="0" y="3412650"/>
                </a:lnTo>
                <a:lnTo>
                  <a:pt x="3284676" y="3412650"/>
                </a:lnTo>
                <a:lnTo>
                  <a:pt x="32846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42982" y="3932658"/>
            <a:ext cx="6990794" cy="5592635"/>
          </a:xfrm>
          <a:custGeom>
            <a:avLst/>
            <a:gdLst/>
            <a:ahLst/>
            <a:cxnLst/>
            <a:rect r="r" b="b" t="t" l="l"/>
            <a:pathLst>
              <a:path h="5592635" w="6990794">
                <a:moveTo>
                  <a:pt x="0" y="0"/>
                </a:moveTo>
                <a:lnTo>
                  <a:pt x="6990794" y="0"/>
                </a:lnTo>
                <a:lnTo>
                  <a:pt x="6990794" y="5592635"/>
                </a:lnTo>
                <a:lnTo>
                  <a:pt x="0" y="5592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117493" y="3374412"/>
            <a:ext cx="7141807" cy="6150881"/>
          </a:xfrm>
          <a:custGeom>
            <a:avLst/>
            <a:gdLst/>
            <a:ahLst/>
            <a:cxnLst/>
            <a:rect r="r" b="b" t="t" l="l"/>
            <a:pathLst>
              <a:path h="6150881" w="7141807">
                <a:moveTo>
                  <a:pt x="0" y="0"/>
                </a:moveTo>
                <a:lnTo>
                  <a:pt x="7141807" y="0"/>
                </a:lnTo>
                <a:lnTo>
                  <a:pt x="7141807" y="6150881"/>
                </a:lnTo>
                <a:lnTo>
                  <a:pt x="0" y="61508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60660" y="375308"/>
            <a:ext cx="8245916" cy="220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CORELAREA ATRIBUTELOR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6469" y="1028700"/>
            <a:ext cx="14335062" cy="8229600"/>
            <a:chOff x="0" y="0"/>
            <a:chExt cx="3775489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75489" cy="2167467"/>
            </a:xfrm>
            <a:custGeom>
              <a:avLst/>
              <a:gdLst/>
              <a:ahLst/>
              <a:cxnLst/>
              <a:rect r="r" b="b" t="t" l="l"/>
              <a:pathLst>
                <a:path h="2167467" w="3775489">
                  <a:moveTo>
                    <a:pt x="27544" y="0"/>
                  </a:moveTo>
                  <a:lnTo>
                    <a:pt x="3747946" y="0"/>
                  </a:lnTo>
                  <a:cubicBezTo>
                    <a:pt x="3755251" y="0"/>
                    <a:pt x="3762257" y="2902"/>
                    <a:pt x="3767422" y="8067"/>
                  </a:cubicBezTo>
                  <a:cubicBezTo>
                    <a:pt x="3772588" y="13233"/>
                    <a:pt x="3775489" y="20239"/>
                    <a:pt x="3775489" y="27544"/>
                  </a:cubicBezTo>
                  <a:lnTo>
                    <a:pt x="3775489" y="2139923"/>
                  </a:lnTo>
                  <a:cubicBezTo>
                    <a:pt x="3775489" y="2147228"/>
                    <a:pt x="3772588" y="2154234"/>
                    <a:pt x="3767422" y="2159399"/>
                  </a:cubicBezTo>
                  <a:cubicBezTo>
                    <a:pt x="3762257" y="2164565"/>
                    <a:pt x="3755251" y="2167467"/>
                    <a:pt x="3747946" y="2167467"/>
                  </a:cubicBezTo>
                  <a:lnTo>
                    <a:pt x="27544" y="2167467"/>
                  </a:lnTo>
                  <a:cubicBezTo>
                    <a:pt x="20239" y="2167467"/>
                    <a:pt x="13233" y="2164565"/>
                    <a:pt x="8067" y="2159399"/>
                  </a:cubicBezTo>
                  <a:cubicBezTo>
                    <a:pt x="2902" y="2154234"/>
                    <a:pt x="0" y="2147228"/>
                    <a:pt x="0" y="2139923"/>
                  </a:cubicBezTo>
                  <a:lnTo>
                    <a:pt x="0" y="27544"/>
                  </a:lnTo>
                  <a:cubicBezTo>
                    <a:pt x="0" y="20239"/>
                    <a:pt x="2902" y="13233"/>
                    <a:pt x="8067" y="8067"/>
                  </a:cubicBezTo>
                  <a:cubicBezTo>
                    <a:pt x="13233" y="2902"/>
                    <a:pt x="20239" y="0"/>
                    <a:pt x="27544" y="0"/>
                  </a:cubicBezTo>
                  <a:close/>
                </a:path>
              </a:pathLst>
            </a:custGeom>
            <a:solidFill>
              <a:srgbClr val="925F64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75489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18470" y="1301006"/>
            <a:ext cx="13820706" cy="7684988"/>
            <a:chOff x="0" y="0"/>
            <a:chExt cx="3640021" cy="20240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40021" cy="2024030"/>
            </a:xfrm>
            <a:custGeom>
              <a:avLst/>
              <a:gdLst/>
              <a:ahLst/>
              <a:cxnLst/>
              <a:rect r="r" b="b" t="t" l="l"/>
              <a:pathLst>
                <a:path h="2024030" w="3640021">
                  <a:moveTo>
                    <a:pt x="28569" y="0"/>
                  </a:moveTo>
                  <a:lnTo>
                    <a:pt x="3611453" y="0"/>
                  </a:lnTo>
                  <a:cubicBezTo>
                    <a:pt x="3619029" y="0"/>
                    <a:pt x="3626296" y="3010"/>
                    <a:pt x="3631654" y="8368"/>
                  </a:cubicBezTo>
                  <a:cubicBezTo>
                    <a:pt x="3637011" y="13725"/>
                    <a:pt x="3640021" y="20992"/>
                    <a:pt x="3640021" y="28569"/>
                  </a:cubicBezTo>
                  <a:lnTo>
                    <a:pt x="3640021" y="1995461"/>
                  </a:lnTo>
                  <a:cubicBezTo>
                    <a:pt x="3640021" y="2003038"/>
                    <a:pt x="3637011" y="2010305"/>
                    <a:pt x="3631654" y="2015662"/>
                  </a:cubicBezTo>
                  <a:cubicBezTo>
                    <a:pt x="3626296" y="2021020"/>
                    <a:pt x="3619029" y="2024030"/>
                    <a:pt x="3611453" y="2024030"/>
                  </a:cubicBezTo>
                  <a:lnTo>
                    <a:pt x="28569" y="2024030"/>
                  </a:lnTo>
                  <a:cubicBezTo>
                    <a:pt x="20992" y="2024030"/>
                    <a:pt x="13725" y="2021020"/>
                    <a:pt x="8368" y="2015662"/>
                  </a:cubicBezTo>
                  <a:cubicBezTo>
                    <a:pt x="3010" y="2010305"/>
                    <a:pt x="0" y="2003038"/>
                    <a:pt x="0" y="1995461"/>
                  </a:cubicBezTo>
                  <a:lnTo>
                    <a:pt x="0" y="28569"/>
                  </a:lnTo>
                  <a:cubicBezTo>
                    <a:pt x="0" y="20992"/>
                    <a:pt x="3010" y="13725"/>
                    <a:pt x="8368" y="8368"/>
                  </a:cubicBezTo>
                  <a:cubicBezTo>
                    <a:pt x="13725" y="3010"/>
                    <a:pt x="20992" y="0"/>
                    <a:pt x="2856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19100" cap="rnd">
              <a:solidFill>
                <a:srgbClr val="E9BB6D"/>
              </a:solidFill>
              <a:prstDash val="sysDot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40021" cy="2062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67860" y="1948449"/>
            <a:ext cx="12552280" cy="6390101"/>
            <a:chOff x="0" y="0"/>
            <a:chExt cx="3305950" cy="1682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5950" cy="1682990"/>
            </a:xfrm>
            <a:custGeom>
              <a:avLst/>
              <a:gdLst/>
              <a:ahLst/>
              <a:cxnLst/>
              <a:rect r="r" b="b" t="t" l="l"/>
              <a:pathLst>
                <a:path h="1682990" w="3305950">
                  <a:moveTo>
                    <a:pt x="31455" y="0"/>
                  </a:moveTo>
                  <a:lnTo>
                    <a:pt x="3274495" y="0"/>
                  </a:lnTo>
                  <a:cubicBezTo>
                    <a:pt x="3282837" y="0"/>
                    <a:pt x="3290838" y="3314"/>
                    <a:pt x="3296737" y="9213"/>
                  </a:cubicBezTo>
                  <a:cubicBezTo>
                    <a:pt x="3302636" y="15112"/>
                    <a:pt x="3305950" y="23113"/>
                    <a:pt x="3305950" y="31455"/>
                  </a:cubicBezTo>
                  <a:lnTo>
                    <a:pt x="3305950" y="1651534"/>
                  </a:lnTo>
                  <a:cubicBezTo>
                    <a:pt x="3305950" y="1668907"/>
                    <a:pt x="3291867" y="1682990"/>
                    <a:pt x="3274495" y="1682990"/>
                  </a:cubicBezTo>
                  <a:lnTo>
                    <a:pt x="31455" y="1682990"/>
                  </a:lnTo>
                  <a:cubicBezTo>
                    <a:pt x="23113" y="1682990"/>
                    <a:pt x="15112" y="1679676"/>
                    <a:pt x="9213" y="1673777"/>
                  </a:cubicBezTo>
                  <a:cubicBezTo>
                    <a:pt x="3314" y="1667878"/>
                    <a:pt x="0" y="1659877"/>
                    <a:pt x="0" y="1651534"/>
                  </a:cubicBezTo>
                  <a:lnTo>
                    <a:pt x="0" y="31455"/>
                  </a:lnTo>
                  <a:cubicBezTo>
                    <a:pt x="0" y="23113"/>
                    <a:pt x="3314" y="15112"/>
                    <a:pt x="9213" y="9213"/>
                  </a:cubicBezTo>
                  <a:cubicBezTo>
                    <a:pt x="15112" y="3314"/>
                    <a:pt x="23113" y="0"/>
                    <a:pt x="31455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05950" cy="1721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329632" y="5417525"/>
            <a:ext cx="4181015" cy="4343912"/>
          </a:xfrm>
          <a:custGeom>
            <a:avLst/>
            <a:gdLst/>
            <a:ahLst/>
            <a:cxnLst/>
            <a:rect r="r" b="b" t="t" l="l"/>
            <a:pathLst>
              <a:path h="4343912" w="4181015">
                <a:moveTo>
                  <a:pt x="0" y="0"/>
                </a:moveTo>
                <a:lnTo>
                  <a:pt x="4181015" y="0"/>
                </a:lnTo>
                <a:lnTo>
                  <a:pt x="4181015" y="4343912"/>
                </a:lnTo>
                <a:lnTo>
                  <a:pt x="0" y="4343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47997" y="3770750"/>
            <a:ext cx="12792005" cy="209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9"/>
              </a:lnSpc>
            </a:pPr>
            <a:r>
              <a:rPr lang="en-US" sz="14961">
                <a:solidFill>
                  <a:srgbClr val="E9BB6D"/>
                </a:solidFill>
                <a:latin typeface="Boulder"/>
                <a:ea typeface="Boulder"/>
                <a:cs typeface="Boulder"/>
                <a:sym typeface="Boulder"/>
              </a:rPr>
              <a:t>REZULTATE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7890" y="2565250"/>
            <a:ext cx="13963930" cy="6693050"/>
            <a:chOff x="0" y="0"/>
            <a:chExt cx="3677743" cy="17627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7743" cy="1762779"/>
            </a:xfrm>
            <a:custGeom>
              <a:avLst/>
              <a:gdLst/>
              <a:ahLst/>
              <a:cxnLst/>
              <a:rect r="r" b="b" t="t" l="l"/>
              <a:pathLst>
                <a:path h="1762779" w="3677743">
                  <a:moveTo>
                    <a:pt x="28276" y="0"/>
                  </a:moveTo>
                  <a:lnTo>
                    <a:pt x="3649468" y="0"/>
                  </a:lnTo>
                  <a:cubicBezTo>
                    <a:pt x="3656967" y="0"/>
                    <a:pt x="3664159" y="2979"/>
                    <a:pt x="3669461" y="8282"/>
                  </a:cubicBezTo>
                  <a:cubicBezTo>
                    <a:pt x="3674764" y="13584"/>
                    <a:pt x="3677743" y="20776"/>
                    <a:pt x="3677743" y="28276"/>
                  </a:cubicBezTo>
                  <a:lnTo>
                    <a:pt x="3677743" y="1734503"/>
                  </a:lnTo>
                  <a:cubicBezTo>
                    <a:pt x="3677743" y="1742002"/>
                    <a:pt x="3674764" y="1749194"/>
                    <a:pt x="3669461" y="1754497"/>
                  </a:cubicBezTo>
                  <a:cubicBezTo>
                    <a:pt x="3664159" y="1759800"/>
                    <a:pt x="3656967" y="1762779"/>
                    <a:pt x="3649468" y="1762779"/>
                  </a:cubicBezTo>
                  <a:lnTo>
                    <a:pt x="28276" y="1762779"/>
                  </a:lnTo>
                  <a:cubicBezTo>
                    <a:pt x="20776" y="1762779"/>
                    <a:pt x="13584" y="1759800"/>
                    <a:pt x="8282" y="1754497"/>
                  </a:cubicBezTo>
                  <a:cubicBezTo>
                    <a:pt x="2979" y="1749194"/>
                    <a:pt x="0" y="1742002"/>
                    <a:pt x="0" y="1734503"/>
                  </a:cubicBezTo>
                  <a:lnTo>
                    <a:pt x="0" y="28276"/>
                  </a:lnTo>
                  <a:cubicBezTo>
                    <a:pt x="0" y="20776"/>
                    <a:pt x="2979" y="13584"/>
                    <a:pt x="8282" y="8282"/>
                  </a:cubicBezTo>
                  <a:cubicBezTo>
                    <a:pt x="13584" y="2979"/>
                    <a:pt x="20776" y="0"/>
                    <a:pt x="28276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77743" cy="1800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34411" y="3112135"/>
            <a:ext cx="698356" cy="6983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1601" lIns="21601" bIns="21601" rIns="21601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34949" y="5384925"/>
            <a:ext cx="698356" cy="6983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1601" lIns="21601" bIns="21601" rIns="21601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90998" y="1702360"/>
            <a:ext cx="3114967" cy="8418830"/>
          </a:xfrm>
          <a:custGeom>
            <a:avLst/>
            <a:gdLst/>
            <a:ahLst/>
            <a:cxnLst/>
            <a:rect r="r" b="b" t="t" l="l"/>
            <a:pathLst>
              <a:path h="8418830" w="3114967">
                <a:moveTo>
                  <a:pt x="0" y="0"/>
                </a:moveTo>
                <a:lnTo>
                  <a:pt x="3114967" y="0"/>
                </a:lnTo>
                <a:lnTo>
                  <a:pt x="3114967" y="8418830"/>
                </a:lnTo>
                <a:lnTo>
                  <a:pt x="0" y="8418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123950"/>
            <a:ext cx="16230600" cy="11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METRICILE DE EVALUARE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94265" y="3103013"/>
            <a:ext cx="10714018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</a:t>
            </a:r>
            <a:r>
              <a:rPr lang="en-US" sz="35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  <a:r>
              <a:rPr lang="en-US" sz="35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55629" y="3169285"/>
            <a:ext cx="255921" cy="58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4252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12532" y="5442075"/>
            <a:ext cx="343190" cy="58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4252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55528" y="5445367"/>
            <a:ext cx="11212709" cy="8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  <a:spcBef>
                <a:spcPct val="0"/>
              </a:spcBef>
            </a:pPr>
            <a:r>
              <a:rPr lang="en-US" b="true" sz="4899" strike="noStrike" u="non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MAE- mean absolute error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22846" y="6253651"/>
            <a:ext cx="10714018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3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Este usor de interpretat</a:t>
            </a:r>
          </a:p>
          <a:p>
            <a:pPr algn="l" marL="518163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Are aceeasi unitate ca si atributul pe care care dorim sa il interpretam </a:t>
            </a:r>
          </a:p>
          <a:p>
            <a:pPr algn="l" marL="518163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Penalizeaza erorile liniar </a:t>
            </a:r>
          </a:p>
          <a:p>
            <a:pPr algn="l" marL="518163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Robust la outlieri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83132" y="3700316"/>
            <a:ext cx="10714018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3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Masoara cat de bine explica modelul variatia datelor </a:t>
            </a:r>
          </a:p>
          <a:p>
            <a:pPr algn="l" marL="518163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Permite comparatia intre modele </a:t>
            </a:r>
          </a:p>
          <a:p>
            <a:pPr algn="l" marL="518163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Ofera o masura relativa si raportarea la un standard </a:t>
            </a:r>
          </a:p>
          <a:p>
            <a:pPr algn="l" marL="518163" indent="-259082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Este sensibil la outlieri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07186" y="3095478"/>
            <a:ext cx="12345338" cy="5632593"/>
            <a:chOff x="0" y="0"/>
            <a:chExt cx="3251447" cy="14834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447" cy="1483481"/>
            </a:xfrm>
            <a:custGeom>
              <a:avLst/>
              <a:gdLst/>
              <a:ahLst/>
              <a:cxnLst/>
              <a:rect r="r" b="b" t="t" l="l"/>
              <a:pathLst>
                <a:path h="1483481" w="3251447">
                  <a:moveTo>
                    <a:pt x="31983" y="0"/>
                  </a:moveTo>
                  <a:lnTo>
                    <a:pt x="3219464" y="0"/>
                  </a:lnTo>
                  <a:cubicBezTo>
                    <a:pt x="3227947" y="0"/>
                    <a:pt x="3236081" y="3370"/>
                    <a:pt x="3242079" y="9368"/>
                  </a:cubicBezTo>
                  <a:cubicBezTo>
                    <a:pt x="3248077" y="15365"/>
                    <a:pt x="3251447" y="23500"/>
                    <a:pt x="3251447" y="31983"/>
                  </a:cubicBezTo>
                  <a:lnTo>
                    <a:pt x="3251447" y="1451499"/>
                  </a:lnTo>
                  <a:cubicBezTo>
                    <a:pt x="3251447" y="1469162"/>
                    <a:pt x="3237128" y="1483481"/>
                    <a:pt x="3219464" y="1483481"/>
                  </a:cubicBezTo>
                  <a:lnTo>
                    <a:pt x="31983" y="1483481"/>
                  </a:lnTo>
                  <a:cubicBezTo>
                    <a:pt x="14319" y="1483481"/>
                    <a:pt x="0" y="1469162"/>
                    <a:pt x="0" y="1451499"/>
                  </a:cubicBezTo>
                  <a:lnTo>
                    <a:pt x="0" y="31983"/>
                  </a:lnTo>
                  <a:cubicBezTo>
                    <a:pt x="0" y="14319"/>
                    <a:pt x="14319" y="0"/>
                    <a:pt x="31983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51447" cy="1521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813703" y="1952749"/>
            <a:ext cx="3114967" cy="8418830"/>
          </a:xfrm>
          <a:custGeom>
            <a:avLst/>
            <a:gdLst/>
            <a:ahLst/>
            <a:cxnLst/>
            <a:rect r="r" b="b" t="t" l="l"/>
            <a:pathLst>
              <a:path h="8418830" w="3114967">
                <a:moveTo>
                  <a:pt x="0" y="0"/>
                </a:moveTo>
                <a:lnTo>
                  <a:pt x="3114967" y="0"/>
                </a:lnTo>
                <a:lnTo>
                  <a:pt x="3114967" y="8418830"/>
                </a:lnTo>
                <a:lnTo>
                  <a:pt x="0" y="8418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3580071" y="3488411"/>
          <a:ext cx="10399568" cy="4846729"/>
        </p:xfrm>
        <a:graphic>
          <a:graphicData uri="http://schemas.openxmlformats.org/drawingml/2006/table">
            <a:tbl>
              <a:tblPr/>
              <a:tblGrid>
                <a:gridCol w="2079914"/>
                <a:gridCol w="2079914"/>
                <a:gridCol w="2079914"/>
                <a:gridCol w="2079914"/>
                <a:gridCol w="2079914"/>
              </a:tblGrid>
              <a:tr h="15593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C5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C5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RETELE NEURALE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C5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REGRESIE LINIARA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C5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CAT BOOST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C574"/>
                    </a:solidFill>
                  </a:tcPr>
                </a:tc>
              </a:tr>
              <a:tr h="164368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R²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C5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  0.2543</a:t>
                      </a:r>
                    </a:p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C5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  0.2396</a:t>
                      </a:r>
                    </a:p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C5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  0.0721</a:t>
                      </a:r>
                    </a:p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C5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  0.4375</a:t>
                      </a:r>
                    </a:p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C574"/>
                    </a:solidFill>
                  </a:tcPr>
                </a:tc>
              </a:tr>
              <a:tr h="164368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MAE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C5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  0.5157</a:t>
                      </a:r>
                    </a:p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C5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  0.4809</a:t>
                      </a:r>
                    </a:p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C5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  0.6216</a:t>
                      </a:r>
                    </a:p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C5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  0.4456</a:t>
                      </a:r>
                    </a:p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</a:pPr>
                      <a:r>
                        <a:rPr lang="en-US" b="true" sz="1999" strike="noStrike" u="none">
                          <a:solidFill>
                            <a:srgbClr val="925F64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C574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028700" y="1123950"/>
            <a:ext cx="16230600" cy="11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REZUTATELE OBTINUTE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7890" y="2565250"/>
            <a:ext cx="13963930" cy="6693050"/>
            <a:chOff x="0" y="0"/>
            <a:chExt cx="3677743" cy="17627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7743" cy="1762779"/>
            </a:xfrm>
            <a:custGeom>
              <a:avLst/>
              <a:gdLst/>
              <a:ahLst/>
              <a:cxnLst/>
              <a:rect r="r" b="b" t="t" l="l"/>
              <a:pathLst>
                <a:path h="1762779" w="3677743">
                  <a:moveTo>
                    <a:pt x="28276" y="0"/>
                  </a:moveTo>
                  <a:lnTo>
                    <a:pt x="3649468" y="0"/>
                  </a:lnTo>
                  <a:cubicBezTo>
                    <a:pt x="3656967" y="0"/>
                    <a:pt x="3664159" y="2979"/>
                    <a:pt x="3669461" y="8282"/>
                  </a:cubicBezTo>
                  <a:cubicBezTo>
                    <a:pt x="3674764" y="13584"/>
                    <a:pt x="3677743" y="20776"/>
                    <a:pt x="3677743" y="28276"/>
                  </a:cubicBezTo>
                  <a:lnTo>
                    <a:pt x="3677743" y="1734503"/>
                  </a:lnTo>
                  <a:cubicBezTo>
                    <a:pt x="3677743" y="1742002"/>
                    <a:pt x="3674764" y="1749194"/>
                    <a:pt x="3669461" y="1754497"/>
                  </a:cubicBezTo>
                  <a:cubicBezTo>
                    <a:pt x="3664159" y="1759800"/>
                    <a:pt x="3656967" y="1762779"/>
                    <a:pt x="3649468" y="1762779"/>
                  </a:cubicBezTo>
                  <a:lnTo>
                    <a:pt x="28276" y="1762779"/>
                  </a:lnTo>
                  <a:cubicBezTo>
                    <a:pt x="20776" y="1762779"/>
                    <a:pt x="13584" y="1759800"/>
                    <a:pt x="8282" y="1754497"/>
                  </a:cubicBezTo>
                  <a:cubicBezTo>
                    <a:pt x="2979" y="1749194"/>
                    <a:pt x="0" y="1742002"/>
                    <a:pt x="0" y="1734503"/>
                  </a:cubicBezTo>
                  <a:lnTo>
                    <a:pt x="0" y="28276"/>
                  </a:lnTo>
                  <a:cubicBezTo>
                    <a:pt x="0" y="20776"/>
                    <a:pt x="2979" y="13584"/>
                    <a:pt x="8282" y="8282"/>
                  </a:cubicBezTo>
                  <a:cubicBezTo>
                    <a:pt x="13584" y="2979"/>
                    <a:pt x="20776" y="0"/>
                    <a:pt x="28276" y="0"/>
                  </a:cubicBezTo>
                  <a:close/>
                </a:path>
              </a:pathLst>
            </a:custGeom>
            <a:solidFill>
              <a:srgbClr val="FFF5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77743" cy="1800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34411" y="3640620"/>
            <a:ext cx="698356" cy="6983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1601" lIns="21601" bIns="21601" rIns="21601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34411" y="5384925"/>
            <a:ext cx="698356" cy="6983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1601" lIns="21601" bIns="21601" rIns="21601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34411" y="7450941"/>
            <a:ext cx="698356" cy="69835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1601" lIns="21601" bIns="21601" rIns="21601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4813703" y="1952749"/>
            <a:ext cx="3114967" cy="8418830"/>
          </a:xfrm>
          <a:custGeom>
            <a:avLst/>
            <a:gdLst/>
            <a:ahLst/>
            <a:cxnLst/>
            <a:rect r="r" b="b" t="t" l="l"/>
            <a:pathLst>
              <a:path h="8418830" w="3114967">
                <a:moveTo>
                  <a:pt x="0" y="0"/>
                </a:moveTo>
                <a:lnTo>
                  <a:pt x="3114967" y="0"/>
                </a:lnTo>
                <a:lnTo>
                  <a:pt x="3114967" y="8418830"/>
                </a:lnTo>
                <a:lnTo>
                  <a:pt x="0" y="8418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1123950"/>
            <a:ext cx="16230600" cy="11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CONCLUzII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86991" y="3583470"/>
            <a:ext cx="10714018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Cel mai bune valori pentru metricile noastre de evaluare au fost obtinute de catre agloritmul de cat boosting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55629" y="3697770"/>
            <a:ext cx="255921" cy="58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4252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12532" y="5442075"/>
            <a:ext cx="343190" cy="58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4252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78289" y="5327775"/>
            <a:ext cx="11212709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Nu am ajuns la un rezultat satisfacator, desi scorul R</a:t>
            </a: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  <a:r>
              <a:rPr lang="en-US" sz="2400">
                <a:solidFill>
                  <a:srgbClr val="723A36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este unul destul de ridicat, eroarea este totusi una mare pentru prezicerea unui factor de multiplicare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12532" y="7534604"/>
            <a:ext cx="342114" cy="58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4252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78289" y="7314907"/>
            <a:ext cx="10714018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723A36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Future work: extragerea mai multor atribute pentru a fi folosite la predictie, utilizarea altor metode de a completa datele lipsa, folosirea altor metode pentru a trata datele categorice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6469" y="1028700"/>
            <a:ext cx="14335062" cy="8229600"/>
            <a:chOff x="0" y="0"/>
            <a:chExt cx="3775489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75489" cy="2167467"/>
            </a:xfrm>
            <a:custGeom>
              <a:avLst/>
              <a:gdLst/>
              <a:ahLst/>
              <a:cxnLst/>
              <a:rect r="r" b="b" t="t" l="l"/>
              <a:pathLst>
                <a:path h="2167467" w="3775489">
                  <a:moveTo>
                    <a:pt x="27544" y="0"/>
                  </a:moveTo>
                  <a:lnTo>
                    <a:pt x="3747946" y="0"/>
                  </a:lnTo>
                  <a:cubicBezTo>
                    <a:pt x="3755251" y="0"/>
                    <a:pt x="3762257" y="2902"/>
                    <a:pt x="3767422" y="8067"/>
                  </a:cubicBezTo>
                  <a:cubicBezTo>
                    <a:pt x="3772588" y="13233"/>
                    <a:pt x="3775489" y="20239"/>
                    <a:pt x="3775489" y="27544"/>
                  </a:cubicBezTo>
                  <a:lnTo>
                    <a:pt x="3775489" y="2139923"/>
                  </a:lnTo>
                  <a:cubicBezTo>
                    <a:pt x="3775489" y="2147228"/>
                    <a:pt x="3772588" y="2154234"/>
                    <a:pt x="3767422" y="2159399"/>
                  </a:cubicBezTo>
                  <a:cubicBezTo>
                    <a:pt x="3762257" y="2164565"/>
                    <a:pt x="3755251" y="2167467"/>
                    <a:pt x="3747946" y="2167467"/>
                  </a:cubicBezTo>
                  <a:lnTo>
                    <a:pt x="27544" y="2167467"/>
                  </a:lnTo>
                  <a:cubicBezTo>
                    <a:pt x="20239" y="2167467"/>
                    <a:pt x="13233" y="2164565"/>
                    <a:pt x="8067" y="2159399"/>
                  </a:cubicBezTo>
                  <a:cubicBezTo>
                    <a:pt x="2902" y="2154234"/>
                    <a:pt x="0" y="2147228"/>
                    <a:pt x="0" y="2139923"/>
                  </a:cubicBezTo>
                  <a:lnTo>
                    <a:pt x="0" y="27544"/>
                  </a:lnTo>
                  <a:cubicBezTo>
                    <a:pt x="0" y="20239"/>
                    <a:pt x="2902" y="13233"/>
                    <a:pt x="8067" y="8067"/>
                  </a:cubicBezTo>
                  <a:cubicBezTo>
                    <a:pt x="13233" y="2902"/>
                    <a:pt x="20239" y="0"/>
                    <a:pt x="27544" y="0"/>
                  </a:cubicBezTo>
                  <a:close/>
                </a:path>
              </a:pathLst>
            </a:custGeom>
            <a:solidFill>
              <a:srgbClr val="925F64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75489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18470" y="1301006"/>
            <a:ext cx="13820706" cy="7684988"/>
            <a:chOff x="0" y="0"/>
            <a:chExt cx="3640021" cy="20240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40021" cy="2024030"/>
            </a:xfrm>
            <a:custGeom>
              <a:avLst/>
              <a:gdLst/>
              <a:ahLst/>
              <a:cxnLst/>
              <a:rect r="r" b="b" t="t" l="l"/>
              <a:pathLst>
                <a:path h="2024030" w="3640021">
                  <a:moveTo>
                    <a:pt x="28569" y="0"/>
                  </a:moveTo>
                  <a:lnTo>
                    <a:pt x="3611453" y="0"/>
                  </a:lnTo>
                  <a:cubicBezTo>
                    <a:pt x="3619029" y="0"/>
                    <a:pt x="3626296" y="3010"/>
                    <a:pt x="3631654" y="8368"/>
                  </a:cubicBezTo>
                  <a:cubicBezTo>
                    <a:pt x="3637011" y="13725"/>
                    <a:pt x="3640021" y="20992"/>
                    <a:pt x="3640021" y="28569"/>
                  </a:cubicBezTo>
                  <a:lnTo>
                    <a:pt x="3640021" y="1995461"/>
                  </a:lnTo>
                  <a:cubicBezTo>
                    <a:pt x="3640021" y="2003038"/>
                    <a:pt x="3637011" y="2010305"/>
                    <a:pt x="3631654" y="2015662"/>
                  </a:cubicBezTo>
                  <a:cubicBezTo>
                    <a:pt x="3626296" y="2021020"/>
                    <a:pt x="3619029" y="2024030"/>
                    <a:pt x="3611453" y="2024030"/>
                  </a:cubicBezTo>
                  <a:lnTo>
                    <a:pt x="28569" y="2024030"/>
                  </a:lnTo>
                  <a:cubicBezTo>
                    <a:pt x="20992" y="2024030"/>
                    <a:pt x="13725" y="2021020"/>
                    <a:pt x="8368" y="2015662"/>
                  </a:cubicBezTo>
                  <a:cubicBezTo>
                    <a:pt x="3010" y="2010305"/>
                    <a:pt x="0" y="2003038"/>
                    <a:pt x="0" y="1995461"/>
                  </a:cubicBezTo>
                  <a:lnTo>
                    <a:pt x="0" y="28569"/>
                  </a:lnTo>
                  <a:cubicBezTo>
                    <a:pt x="0" y="20992"/>
                    <a:pt x="3010" y="13725"/>
                    <a:pt x="8368" y="8368"/>
                  </a:cubicBezTo>
                  <a:cubicBezTo>
                    <a:pt x="13725" y="3010"/>
                    <a:pt x="20992" y="0"/>
                    <a:pt x="2856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19100" cap="rnd">
              <a:solidFill>
                <a:srgbClr val="E9BB6D"/>
              </a:solidFill>
              <a:prstDash val="sysDot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40021" cy="2062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67860" y="1948449"/>
            <a:ext cx="12552280" cy="6390101"/>
            <a:chOff x="0" y="0"/>
            <a:chExt cx="3305950" cy="1682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5950" cy="1682990"/>
            </a:xfrm>
            <a:custGeom>
              <a:avLst/>
              <a:gdLst/>
              <a:ahLst/>
              <a:cxnLst/>
              <a:rect r="r" b="b" t="t" l="l"/>
              <a:pathLst>
                <a:path h="1682990" w="3305950">
                  <a:moveTo>
                    <a:pt x="31455" y="0"/>
                  </a:moveTo>
                  <a:lnTo>
                    <a:pt x="3274495" y="0"/>
                  </a:lnTo>
                  <a:cubicBezTo>
                    <a:pt x="3282837" y="0"/>
                    <a:pt x="3290838" y="3314"/>
                    <a:pt x="3296737" y="9213"/>
                  </a:cubicBezTo>
                  <a:cubicBezTo>
                    <a:pt x="3302636" y="15112"/>
                    <a:pt x="3305950" y="23113"/>
                    <a:pt x="3305950" y="31455"/>
                  </a:cubicBezTo>
                  <a:lnTo>
                    <a:pt x="3305950" y="1651534"/>
                  </a:lnTo>
                  <a:cubicBezTo>
                    <a:pt x="3305950" y="1668907"/>
                    <a:pt x="3291867" y="1682990"/>
                    <a:pt x="3274495" y="1682990"/>
                  </a:cubicBezTo>
                  <a:lnTo>
                    <a:pt x="31455" y="1682990"/>
                  </a:lnTo>
                  <a:cubicBezTo>
                    <a:pt x="23113" y="1682990"/>
                    <a:pt x="15112" y="1679676"/>
                    <a:pt x="9213" y="1673777"/>
                  </a:cubicBezTo>
                  <a:cubicBezTo>
                    <a:pt x="3314" y="1667878"/>
                    <a:pt x="0" y="1659877"/>
                    <a:pt x="0" y="1651534"/>
                  </a:cubicBezTo>
                  <a:lnTo>
                    <a:pt x="0" y="31455"/>
                  </a:lnTo>
                  <a:cubicBezTo>
                    <a:pt x="0" y="23113"/>
                    <a:pt x="3314" y="15112"/>
                    <a:pt x="9213" y="9213"/>
                  </a:cubicBezTo>
                  <a:cubicBezTo>
                    <a:pt x="15112" y="3314"/>
                    <a:pt x="23113" y="0"/>
                    <a:pt x="31455" y="0"/>
                  </a:cubicBezTo>
                  <a:close/>
                </a:path>
              </a:pathLst>
            </a:custGeom>
            <a:solidFill>
              <a:srgbClr val="C1272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05950" cy="1721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866105" y="3963634"/>
            <a:ext cx="8525436" cy="238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83"/>
              </a:lnSpc>
            </a:pPr>
            <a:r>
              <a:rPr lang="en-US" sz="13916">
                <a:solidFill>
                  <a:srgbClr val="FFF5DF"/>
                </a:solidFill>
                <a:latin typeface="Hibernate"/>
                <a:ea typeface="Hibernate"/>
                <a:cs typeface="Hibernate"/>
                <a:sym typeface="Hibernate"/>
              </a:rPr>
              <a:t>pentru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70706" y="2490904"/>
            <a:ext cx="12149433" cy="209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9"/>
              </a:lnSpc>
            </a:pPr>
            <a:r>
              <a:rPr lang="en-US" sz="14961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MULTUMIM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6851" y="5917294"/>
            <a:ext cx="16063943" cy="22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9"/>
              </a:lnSpc>
            </a:pPr>
            <a:r>
              <a:rPr lang="en-US" sz="14961">
                <a:solidFill>
                  <a:srgbClr val="F4C366"/>
                </a:solidFill>
                <a:latin typeface="Boulder"/>
                <a:ea typeface="Boulder"/>
                <a:cs typeface="Boulder"/>
                <a:sym typeface="Boulder"/>
              </a:rPr>
              <a:t>ATENTIE</a:t>
            </a:r>
          </a:p>
          <a:p>
            <a:pPr algn="ctr">
              <a:lnSpc>
                <a:spcPts val="2139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-1734208">
            <a:off x="174047" y="-274320"/>
            <a:ext cx="5387627" cy="4114800"/>
          </a:xfrm>
          <a:custGeom>
            <a:avLst/>
            <a:gdLst/>
            <a:ahLst/>
            <a:cxnLst/>
            <a:rect r="r" b="b" t="t" l="l"/>
            <a:pathLst>
              <a:path h="4114800" w="5387627">
                <a:moveTo>
                  <a:pt x="0" y="0"/>
                </a:moveTo>
                <a:lnTo>
                  <a:pt x="5387627" y="0"/>
                </a:lnTo>
                <a:lnTo>
                  <a:pt x="53876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DAG5hKXRshY</dc:identifier>
  <dcterms:modified xsi:type="dcterms:W3CDTF">2011-08-01T06:04:30Z</dcterms:modified>
  <cp:revision>1</cp:revision>
  <dc:title>Budget Predition</dc:title>
</cp:coreProperties>
</file>